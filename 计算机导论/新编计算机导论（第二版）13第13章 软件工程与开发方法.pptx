
<file path=[Content_Types].xml><?xml version="1.0" encoding="utf-8"?>
<Types xmlns="http://schemas.openxmlformats.org/package/2006/content-types">
  <Default Extension="xml" ContentType="application/xml"/>
  <Default Extension="jpg" ContentType="image/jpeg"/>
  <Default Extension="jpeg" ContentType="image/jpeg"/>
  <Default Extension="emf" ContentType="image/x-emf"/>
  <Default Extension="rels" ContentType="application/vnd.openxmlformats-package.relationships+xml"/>
  <Default Extension="vml" ContentType="application/vnd.openxmlformats-officedocument.vmlDrawing"/>
  <Default Extension="vsd" ContentType="application/vnd.visio"/>
  <Default Extension="bin" ContentType="application/vnd.openxmlformats-officedocument.oleObjec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51"/>
  </p:notesMasterIdLst>
  <p:sldIdLst>
    <p:sldId id="256" r:id="rId3"/>
    <p:sldId id="314" r:id="rId4"/>
    <p:sldId id="327" r:id="rId5"/>
    <p:sldId id="347" r:id="rId6"/>
    <p:sldId id="328" r:id="rId7"/>
    <p:sldId id="329" r:id="rId8"/>
    <p:sldId id="330" r:id="rId9"/>
    <p:sldId id="331" r:id="rId10"/>
    <p:sldId id="348" r:id="rId11"/>
    <p:sldId id="315" r:id="rId12"/>
    <p:sldId id="332" r:id="rId13"/>
    <p:sldId id="316" r:id="rId14"/>
    <p:sldId id="333" r:id="rId15"/>
    <p:sldId id="349" r:id="rId16"/>
    <p:sldId id="334" r:id="rId17"/>
    <p:sldId id="335" r:id="rId18"/>
    <p:sldId id="336" r:id="rId19"/>
    <p:sldId id="337" r:id="rId20"/>
    <p:sldId id="338" r:id="rId21"/>
    <p:sldId id="317" r:id="rId22"/>
    <p:sldId id="339" r:id="rId23"/>
    <p:sldId id="350" r:id="rId24"/>
    <p:sldId id="340" r:id="rId25"/>
    <p:sldId id="351" r:id="rId26"/>
    <p:sldId id="352" r:id="rId27"/>
    <p:sldId id="353" r:id="rId28"/>
    <p:sldId id="318" r:id="rId29"/>
    <p:sldId id="341" r:id="rId30"/>
    <p:sldId id="342" r:id="rId31"/>
    <p:sldId id="355" r:id="rId32"/>
    <p:sldId id="354" r:id="rId33"/>
    <p:sldId id="319" r:id="rId34"/>
    <p:sldId id="343" r:id="rId35"/>
    <p:sldId id="356" r:id="rId36"/>
    <p:sldId id="357" r:id="rId37"/>
    <p:sldId id="358" r:id="rId38"/>
    <p:sldId id="344" r:id="rId39"/>
    <p:sldId id="345" r:id="rId40"/>
    <p:sldId id="320" r:id="rId41"/>
    <p:sldId id="321" r:id="rId42"/>
    <p:sldId id="322" r:id="rId43"/>
    <p:sldId id="346" r:id="rId44"/>
    <p:sldId id="323" r:id="rId45"/>
    <p:sldId id="324" r:id="rId46"/>
    <p:sldId id="325" r:id="rId47"/>
    <p:sldId id="326" r:id="rId48"/>
    <p:sldId id="313" r:id="rId49"/>
    <p:sldId id="26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4A6"/>
    <a:srgbClr val="734F29"/>
    <a:srgbClr val="D24726"/>
    <a:srgbClr val="DD462F"/>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0" autoAdjust="0"/>
    <p:restoredTop sz="94280" autoAdjust="0"/>
  </p:normalViewPr>
  <p:slideViewPr>
    <p:cSldViewPr snapToGrid="0">
      <p:cViewPr varScale="1">
        <p:scale>
          <a:sx n="81" d="100"/>
          <a:sy n="81" d="100"/>
        </p:scale>
        <p:origin x="224" y="19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27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50" Type="http://schemas.openxmlformats.org/officeDocument/2006/relationships/slide" Target="slides/slide48.xml"/><Relationship Id="rId51" Type="http://schemas.openxmlformats.org/officeDocument/2006/relationships/notesMaster" Target="notesMasters/notesMaster1.xml"/><Relationship Id="rId52" Type="http://schemas.openxmlformats.org/officeDocument/2006/relationships/commentAuthors" Target="commentAuthors.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EC13577B-6902-467D-A26C-08A0DD5E4E03}" type="datetimeFigureOut">
              <a:t>2017/11/4</a:t>
            </a:fld>
            <a:endParaRPr lang="zh-CN"/>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DF61EA0F-A667-4B49-8422-0062BC55E249}" type="slidenum">
              <a:t>‹#›</a:t>
            </a:fld>
            <a:endParaRPr lang="zh-CN"/>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n-ea"/>
        <a:cs typeface="+mn-cs"/>
      </a:defRPr>
    </a:lvl1pPr>
    <a:lvl2pPr marL="457200" algn="l" defTabSz="914400" rtl="0" eaLnBrk="1" latinLnBrk="0" hangingPunct="1">
      <a:defRPr lang="zh-CN" sz="1200" kern="1200">
        <a:solidFill>
          <a:schemeClr val="tx1"/>
        </a:solidFill>
        <a:latin typeface="+mn-lt"/>
        <a:ea typeface="+mn-ea"/>
        <a:cs typeface="+mn-cs"/>
      </a:defRPr>
    </a:lvl2pPr>
    <a:lvl3pPr marL="914400" algn="l" defTabSz="914400" rtl="0" eaLnBrk="1" latinLnBrk="0" hangingPunct="1">
      <a:defRPr lang="zh-CN" sz="1200" kern="1200">
        <a:solidFill>
          <a:schemeClr val="tx1"/>
        </a:solidFill>
        <a:latin typeface="+mn-lt"/>
        <a:ea typeface="+mn-ea"/>
        <a:cs typeface="+mn-cs"/>
      </a:defRPr>
    </a:lvl3pPr>
    <a:lvl4pPr marL="1371600" algn="l" defTabSz="914400" rtl="0" eaLnBrk="1" latinLnBrk="0" hangingPunct="1">
      <a:defRPr lang="zh-CN" sz="1200" kern="1200">
        <a:solidFill>
          <a:schemeClr val="tx1"/>
        </a:solidFill>
        <a:latin typeface="+mn-lt"/>
        <a:ea typeface="+mn-ea"/>
        <a:cs typeface="+mn-cs"/>
      </a:defRPr>
    </a:lvl4pPr>
    <a:lvl5pPr marL="1828800" algn="l" defTabSz="914400" rtl="0" eaLnBrk="1" latinLnBrk="0" hangingPunct="1">
      <a:defRPr lang="zh-CN" sz="1200" kern="1200">
        <a:solidFill>
          <a:schemeClr val="tx1"/>
        </a:solidFill>
        <a:latin typeface="+mn-lt"/>
        <a:ea typeface="+mn-ea"/>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DF61EA0F-A667-4B49-8422-0062BC55E249}" type="slidenum">
              <a:rPr lang="zh-CN" smtClean="0"/>
              <a:t>1</a:t>
            </a:fld>
            <a:endParaRPr lang="zh-CN"/>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dirty="0" smtClean="0"/>
              <a:t>在 </a:t>
            </a:r>
            <a:r>
              <a:rPr lang="zh-CN" baseline="0" dirty="0" smtClean="0"/>
              <a:t>“幻灯片放映”模式，单击箭头进入 PowerPoint 入门中心。</a:t>
            </a:r>
            <a:endParaRPr lang="zh-CN" dirty="0"/>
          </a:p>
        </p:txBody>
      </p:sp>
      <p:sp>
        <p:nvSpPr>
          <p:cNvPr id="4" name="幻灯片编号占位符 3"/>
          <p:cNvSpPr>
            <a:spLocks noGrp="1"/>
          </p:cNvSpPr>
          <p:nvPr>
            <p:ph type="sldNum" sz="quarter" idx="10"/>
          </p:nvPr>
        </p:nvSpPr>
        <p:spPr/>
        <p:txBody>
          <a:bodyPr/>
          <a:lstStyle/>
          <a:p>
            <a:fld id="{DF61EA0F-A667-4B49-8422-0062BC55E249}" type="slidenum">
              <a:rPr lang="en-US" altLang="zh-CN" smtClean="0"/>
              <a:t>48</a:t>
            </a:fld>
            <a:endParaRPr lang="zh-CN"/>
          </a:p>
        </p:txBody>
      </p:sp>
    </p:spTree>
    <p:extLst>
      <p:ext uri="{BB962C8B-B14F-4D97-AF65-F5344CB8AC3E}">
        <p14:creationId xmlns:p14="http://schemas.microsoft.com/office/powerpoint/2010/main" val="1851196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ctrTitle"/>
          </p:nvPr>
        </p:nvSpPr>
        <p:spPr>
          <a:xfrm>
            <a:off x="838200" y="2061006"/>
            <a:ext cx="10515600" cy="2387600"/>
          </a:xfrm>
        </p:spPr>
        <p:txBody>
          <a:bodyPr anchor="b">
            <a:normAutofit/>
          </a:bodyPr>
          <a:lstStyle>
            <a:lvl1pPr algn="l" latinLnBrk="0">
              <a:defRPr lang="zh-CN" sz="5400">
                <a:solidFill>
                  <a:schemeClr val="bg1"/>
                </a:solidFill>
              </a:defRPr>
            </a:lvl1pPr>
          </a:lstStyle>
          <a:p>
            <a:r>
              <a:rPr lang="zh-CN" altLang="en-US" smtClean="0"/>
              <a:t>单击此处编辑母版标题样式</a:t>
            </a:r>
            <a:endParaRPr lang="zh-CN"/>
          </a:p>
        </p:txBody>
      </p:sp>
      <p:sp>
        <p:nvSpPr>
          <p:cNvPr id="3" name="副标题 2"/>
          <p:cNvSpPr>
            <a:spLocks noGrp="1"/>
          </p:cNvSpPr>
          <p:nvPr>
            <p:ph type="subTitle" idx="1"/>
          </p:nvPr>
        </p:nvSpPr>
        <p:spPr>
          <a:xfrm>
            <a:off x="838202" y="5110609"/>
            <a:ext cx="6705599" cy="1137793"/>
          </a:xfrm>
        </p:spPr>
        <p:txBody>
          <a:bodyPr>
            <a:normAutofit/>
          </a:bodyPr>
          <a:lstStyle>
            <a:lvl1pPr marL="0" indent="0" algn="l" latinLnBrk="0">
              <a:lnSpc>
                <a:spcPct val="150000"/>
              </a:lnSpc>
              <a:spcBef>
                <a:spcPts val="600"/>
              </a:spcBef>
              <a:buNone/>
              <a:defRPr lang="zh-CN" sz="2800">
                <a:solidFill>
                  <a:srgbClr val="D24726"/>
                </a:solidFill>
                <a:latin typeface="+mj-lt"/>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dirty="0"/>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718549498"/>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4434" y="0"/>
            <a:ext cx="10749367" cy="1208868"/>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内容占位符 2"/>
          <p:cNvSpPr>
            <a:spLocks noGrp="1"/>
          </p:cNvSpPr>
          <p:nvPr>
            <p:ph idx="1"/>
          </p:nvPr>
        </p:nvSpPr>
        <p:spPr>
          <a:xfrm>
            <a:off x="838201" y="1825625"/>
            <a:ext cx="4167753" cy="4351338"/>
          </a:xfrm>
        </p:spPr>
        <p:txBody>
          <a:bodyPr>
            <a:normAutofit/>
          </a:bodyPr>
          <a:lstStyle>
            <a:lvl1pPr marL="0" indent="0" latinLnBrk="0">
              <a:lnSpc>
                <a:spcPct val="150000"/>
              </a:lnSpc>
              <a:spcAft>
                <a:spcPts val="1200"/>
              </a:spcAft>
              <a:buNone/>
              <a:defRPr lang="zh-CN" sz="1600">
                <a:solidFill>
                  <a:schemeClr val="bg1">
                    <a:lumMod val="50000"/>
                  </a:schemeClr>
                </a:solidFill>
              </a:defRPr>
            </a:lvl1pPr>
            <a:lvl2pPr latinLnBrk="0">
              <a:lnSpc>
                <a:spcPct val="150000"/>
              </a:lnSpc>
              <a:spcAft>
                <a:spcPts val="1200"/>
              </a:spcAft>
              <a:defRPr lang="zh-CN" sz="1400">
                <a:solidFill>
                  <a:schemeClr val="bg1">
                    <a:lumMod val="50000"/>
                  </a:schemeClr>
                </a:solidFill>
              </a:defRPr>
            </a:lvl2pPr>
            <a:lvl3pPr latinLnBrk="0">
              <a:lnSpc>
                <a:spcPct val="150000"/>
              </a:lnSpc>
              <a:spcAft>
                <a:spcPts val="1200"/>
              </a:spcAft>
              <a:defRPr lang="zh-CN" sz="1200">
                <a:solidFill>
                  <a:schemeClr val="bg1">
                    <a:lumMod val="50000"/>
                  </a:schemeClr>
                </a:solidFill>
              </a:defRPr>
            </a:lvl3pPr>
            <a:lvl4pPr latinLnBrk="0">
              <a:lnSpc>
                <a:spcPct val="150000"/>
              </a:lnSpc>
              <a:spcAft>
                <a:spcPts val="1200"/>
              </a:spcAft>
              <a:defRPr lang="zh-CN" sz="1100">
                <a:solidFill>
                  <a:schemeClr val="bg1">
                    <a:lumMod val="50000"/>
                  </a:schemeClr>
                </a:solidFill>
              </a:defRPr>
            </a:lvl4pPr>
            <a:lvl5pPr latinLnBrk="0">
              <a:lnSpc>
                <a:spcPct val="150000"/>
              </a:lnSpc>
              <a:spcAft>
                <a:spcPts val="1200"/>
              </a:spcAft>
              <a:defRPr lang="zh-CN" sz="1100">
                <a:solidFill>
                  <a:schemeClr val="bg1">
                    <a:lumMod val="50000"/>
                  </a:schemeClr>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2185836540"/>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838201" y="2402238"/>
            <a:ext cx="4508715" cy="2187227"/>
          </a:xfrm>
        </p:spPr>
        <p:txBody>
          <a:bodyPr anchor="ctr">
            <a:noAutofit/>
          </a:bodyPr>
          <a:lstStyle>
            <a:lvl1pPr algn="l" latinLnBrk="0">
              <a:defRPr lang="zh-CN" sz="4800">
                <a:solidFill>
                  <a:srgbClr val="D24726"/>
                </a:solidFill>
              </a:defRPr>
            </a:lvl1pPr>
          </a:lstStyle>
          <a:p>
            <a:r>
              <a:rPr lang="zh-CN" altLang="en-US" smtClean="0"/>
              <a:t>单击此处编辑母版标题样式</a:t>
            </a:r>
            <a:endParaRPr lang="zh-CN"/>
          </a:p>
        </p:txBody>
      </p:sp>
      <p:sp>
        <p:nvSpPr>
          <p:cNvPr id="3" name="文本占位符 2"/>
          <p:cNvSpPr>
            <a:spLocks noGrp="1"/>
          </p:cNvSpPr>
          <p:nvPr>
            <p:ph type="body" idx="1"/>
          </p:nvPr>
        </p:nvSpPr>
        <p:spPr>
          <a:xfrm>
            <a:off x="6323308" y="2402237"/>
            <a:ext cx="5269424" cy="2187226"/>
          </a:xfrm>
        </p:spPr>
        <p:txBody>
          <a:bodyPr anchor="ctr">
            <a:normAutofit/>
          </a:bodyPr>
          <a:lstStyle>
            <a:lvl1pPr marL="0" indent="0" latinLnBrk="0">
              <a:lnSpc>
                <a:spcPct val="150000"/>
              </a:lnSpc>
              <a:buNone/>
              <a:defRPr lang="zh-CN" sz="2800">
                <a:solidFill>
                  <a:schemeClr val="bg1"/>
                </a:solidFill>
                <a:latin typeface="+mj-lt"/>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335655537"/>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内容占位符 2"/>
          <p:cNvSpPr>
            <a:spLocks noGrp="1"/>
          </p:cNvSpPr>
          <p:nvPr>
            <p:ph sz="half" idx="1"/>
          </p:nvPr>
        </p:nvSpPr>
        <p:spPr>
          <a:xfrm>
            <a:off x="838200" y="1825625"/>
            <a:ext cx="5181600" cy="4351338"/>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4" name="内容占位符 3"/>
          <p:cNvSpPr>
            <a:spLocks noGrp="1"/>
          </p:cNvSpPr>
          <p:nvPr>
            <p:ph sz="half" idx="2"/>
          </p:nvPr>
        </p:nvSpPr>
        <p:spPr>
          <a:xfrm>
            <a:off x="6172200" y="1825625"/>
            <a:ext cx="5181600" cy="4351338"/>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5" name="日期占位符 4"/>
          <p:cNvSpPr>
            <a:spLocks noGrp="1"/>
          </p:cNvSpPr>
          <p:nvPr>
            <p:ph type="dt" sz="half" idx="10"/>
          </p:nvPr>
        </p:nvSpPr>
        <p:spPr/>
        <p:txBody>
          <a:bodyPr/>
          <a:lstStyle/>
          <a:p>
            <a:fld id="{8BEEBAAA-29B5-4AF5-BC5F-7E580C29002D}" type="datetimeFigureOut">
              <a:t>2017/11/4</a:t>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9860EDB8-5305-433F-BE41-D7A86D811DB3}" type="slidenum">
              <a:t>‹#›</a:t>
            </a:fld>
            <a:endParaRPr lang="zh-CN"/>
          </a:p>
        </p:txBody>
      </p:sp>
      <p:sp>
        <p:nvSpPr>
          <p:cNvPr id="9" name="矩形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3328223887"/>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0"/>
            <a:ext cx="10737851"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文本占位符 2"/>
          <p:cNvSpPr>
            <a:spLocks noGrp="1"/>
          </p:cNvSpPr>
          <p:nvPr>
            <p:ph type="body" idx="1"/>
          </p:nvPr>
        </p:nvSpPr>
        <p:spPr>
          <a:xfrm>
            <a:off x="831851" y="1489075"/>
            <a:ext cx="5156200" cy="641350"/>
          </a:xfrm>
        </p:spPr>
        <p:txBody>
          <a:bodyPr anchor="b"/>
          <a:lstStyle>
            <a:lvl1pPr marL="0" indent="0" latinLnBrk="0">
              <a:buNone/>
              <a:defRPr lang="zh-CN" sz="2400" b="1"/>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831851" y="2193927"/>
            <a:ext cx="5156200" cy="3978275"/>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5" name="文本占位符 4"/>
          <p:cNvSpPr>
            <a:spLocks noGrp="1"/>
          </p:cNvSpPr>
          <p:nvPr>
            <p:ph type="body" sz="quarter" idx="3"/>
          </p:nvPr>
        </p:nvSpPr>
        <p:spPr>
          <a:xfrm>
            <a:off x="6189664" y="1489075"/>
            <a:ext cx="5157787" cy="641350"/>
          </a:xfrm>
        </p:spPr>
        <p:txBody>
          <a:bodyPr anchor="b"/>
          <a:lstStyle>
            <a:lvl1pPr marL="0" indent="0" latinLnBrk="0">
              <a:buNone/>
              <a:defRPr lang="zh-CN" sz="2400" b="1"/>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6189664" y="2193927"/>
            <a:ext cx="5157787" cy="3978275"/>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7" name="日期占位符 6"/>
          <p:cNvSpPr>
            <a:spLocks noGrp="1"/>
          </p:cNvSpPr>
          <p:nvPr>
            <p:ph type="dt" sz="half" idx="10"/>
          </p:nvPr>
        </p:nvSpPr>
        <p:spPr/>
        <p:txBody>
          <a:bodyPr/>
          <a:lstStyle/>
          <a:p>
            <a:fld id="{8BEEBAAA-29B5-4AF5-BC5F-7E580C29002D}" type="datetimeFigureOut">
              <a:t>2017/11/4</a:t>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9860EDB8-5305-433F-BE41-D7A86D811DB3}" type="slidenum">
              <a:t>‹#›</a:t>
            </a:fld>
            <a:endParaRPr lang="zh-CN"/>
          </a:p>
        </p:txBody>
      </p:sp>
      <p:sp>
        <p:nvSpPr>
          <p:cNvPr id="11" name="矩形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3606029816"/>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日期占位符 2"/>
          <p:cNvSpPr>
            <a:spLocks noGrp="1"/>
          </p:cNvSpPr>
          <p:nvPr>
            <p:ph type="dt" sz="half" idx="10"/>
          </p:nvPr>
        </p:nvSpPr>
        <p:spPr/>
        <p:txBody>
          <a:bodyPr/>
          <a:lstStyle/>
          <a:p>
            <a:fld id="{8BEEBAAA-29B5-4AF5-BC5F-7E580C29002D}" type="datetimeFigureOut">
              <a:t>2017/11/4</a:t>
            </a:fld>
            <a:endParaRPr lang="zh-CN"/>
          </a:p>
        </p:txBody>
      </p:sp>
      <p:sp>
        <p:nvSpPr>
          <p:cNvPr id="4" name="页脚占位符 3"/>
          <p:cNvSpPr>
            <a:spLocks noGrp="1"/>
          </p:cNvSpPr>
          <p:nvPr>
            <p:ph type="ftr" sz="quarter" idx="11"/>
          </p:nvPr>
        </p:nvSpPr>
        <p:spPr/>
        <p:txBody>
          <a:bodyPr/>
          <a:lstStyle/>
          <a:p>
            <a:endParaRPr lang="zh-CN"/>
          </a:p>
        </p:txBody>
      </p:sp>
      <p:sp>
        <p:nvSpPr>
          <p:cNvPr id="5" name="幻灯片编号占位符 4"/>
          <p:cNvSpPr>
            <a:spLocks noGrp="1"/>
          </p:cNvSpPr>
          <p:nvPr>
            <p:ph type="sldNum" sz="quarter" idx="12"/>
          </p:nvPr>
        </p:nvSpPr>
        <p:spPr/>
        <p:txBody>
          <a:bodyPr/>
          <a:lstStyle/>
          <a:p>
            <a:fld id="{9860EDB8-5305-433F-BE41-D7A86D811DB3}" type="slidenum">
              <a:t>‹#›</a:t>
            </a:fld>
            <a:endParaRPr lang="zh-CN"/>
          </a:p>
        </p:txBody>
      </p:sp>
      <p:sp>
        <p:nvSpPr>
          <p:cNvPr id="7" name="矩形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00814485"/>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EEBAAA-29B5-4AF5-BC5F-7E580C29002D}" type="datetimeFigureOut">
              <a:t>2017/11/4</a:t>
            </a:fld>
            <a:endParaRPr lang="zh-CN"/>
          </a:p>
        </p:txBody>
      </p:sp>
      <p:sp>
        <p:nvSpPr>
          <p:cNvPr id="3" name="页脚占位符 2"/>
          <p:cNvSpPr>
            <a:spLocks noGrp="1"/>
          </p:cNvSpPr>
          <p:nvPr>
            <p:ph type="ftr" sz="quarter" idx="11"/>
          </p:nvPr>
        </p:nvSpPr>
        <p:spPr/>
        <p:txBody>
          <a:bodyPr/>
          <a:lstStyle/>
          <a:p>
            <a:endParaRPr lang="zh-CN"/>
          </a:p>
        </p:txBody>
      </p:sp>
      <p:sp>
        <p:nvSpPr>
          <p:cNvPr id="4" name="幻灯片编号占位符 3"/>
          <p:cNvSpPr>
            <a:spLocks noGrp="1"/>
          </p:cNvSpPr>
          <p:nvPr>
            <p:ph type="sldNum" sz="quarter" idx="12"/>
          </p:nvPr>
        </p:nvSpPr>
        <p:spPr/>
        <p:txBody>
          <a:bodyPr/>
          <a:lstStyle/>
          <a:p>
            <a:fld id="{9860EDB8-5305-433F-BE41-D7A86D811DB3}" type="slidenum">
              <a:t>‹#›</a:t>
            </a:fld>
            <a:endParaRPr lang="zh-CN"/>
          </a:p>
        </p:txBody>
      </p:sp>
    </p:spTree>
    <p:extLst>
      <p:ext uri="{BB962C8B-B14F-4D97-AF65-F5344CB8AC3E}">
        <p14:creationId xmlns:p14="http://schemas.microsoft.com/office/powerpoint/2010/main" val="4037432058"/>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题注">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atinLnBrk="0">
              <a:defRPr lang="zh-CN" sz="3200"/>
            </a:lvl1pPr>
          </a:lstStyle>
          <a:p>
            <a:r>
              <a:rPr lang="zh-CN" altLang="en-US" smtClean="0"/>
              <a:t>单击此处编辑母版标题样式</a:t>
            </a:r>
            <a:endParaRPr lang="zh-CN"/>
          </a:p>
        </p:txBody>
      </p:sp>
      <p:sp>
        <p:nvSpPr>
          <p:cNvPr id="3" name="内容占位符 2"/>
          <p:cNvSpPr>
            <a:spLocks noGrp="1"/>
          </p:cNvSpPr>
          <p:nvPr>
            <p:ph idx="1"/>
          </p:nvPr>
        </p:nvSpPr>
        <p:spPr>
          <a:xfrm>
            <a:off x="5183188" y="987427"/>
            <a:ext cx="6172200" cy="4873625"/>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4" name="文本占位符 3"/>
          <p:cNvSpPr>
            <a:spLocks noGrp="1"/>
          </p:cNvSpPr>
          <p:nvPr>
            <p:ph type="body" sz="half" idx="2"/>
          </p:nvPr>
        </p:nvSpPr>
        <p:spPr>
          <a:xfrm>
            <a:off x="839788" y="2101850"/>
            <a:ext cx="3932237" cy="3759200"/>
          </a:xfrm>
        </p:spPr>
        <p:txBody>
          <a:bodyPr/>
          <a:lstStyle>
            <a:lvl1pPr marL="0" indent="0" latinLnBrk="0">
              <a:buNone/>
              <a:defRPr lang="zh-CN" sz="16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BEEBAAA-29B5-4AF5-BC5F-7E580C29002D}" type="datetimeFigureOut">
              <a:t>2017/11/4</a:t>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9860EDB8-5305-433F-BE41-D7A86D811DB3}" type="slidenum">
              <a:t>‹#›</a:t>
            </a:fld>
            <a:endParaRPr lang="zh-CN"/>
          </a:p>
        </p:txBody>
      </p:sp>
    </p:spTree>
    <p:extLst>
      <p:ext uri="{BB962C8B-B14F-4D97-AF65-F5344CB8AC3E}">
        <p14:creationId xmlns:p14="http://schemas.microsoft.com/office/powerpoint/2010/main" val="1784193825"/>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atinLnBrk="0">
              <a:defRPr lang="zh-CN" sz="3200"/>
            </a:lvl1pPr>
          </a:lstStyle>
          <a:p>
            <a:r>
              <a:rPr lang="zh-CN" altLang="en-US" smtClean="0"/>
              <a:t>单击此处编辑母版标题样式</a:t>
            </a:r>
            <a:endParaRPr lang="zh-CN"/>
          </a:p>
        </p:txBody>
      </p:sp>
      <p:sp>
        <p:nvSpPr>
          <p:cNvPr id="3" name="图片占位符 2"/>
          <p:cNvSpPr>
            <a:spLocks noGrp="1"/>
          </p:cNvSpPr>
          <p:nvPr>
            <p:ph type="pic" idx="1"/>
          </p:nvPr>
        </p:nvSpPr>
        <p:spPr>
          <a:xfrm>
            <a:off x="5183188" y="987427"/>
            <a:ext cx="6172200" cy="4873625"/>
          </a:xfrm>
        </p:spPr>
        <p:txBody>
          <a:bodyPr/>
          <a:lstStyle>
            <a:lvl1pPr marL="0" indent="0" latinLnBrk="0">
              <a:buNone/>
              <a:defRPr lang="zh-CN" sz="32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4" name="文本占位符 3"/>
          <p:cNvSpPr>
            <a:spLocks noGrp="1"/>
          </p:cNvSpPr>
          <p:nvPr>
            <p:ph type="body" sz="half" idx="2"/>
          </p:nvPr>
        </p:nvSpPr>
        <p:spPr>
          <a:xfrm>
            <a:off x="839788" y="2101850"/>
            <a:ext cx="3932237" cy="3759200"/>
          </a:xfrm>
        </p:spPr>
        <p:txBody>
          <a:bodyPr/>
          <a:lstStyle>
            <a:lvl1pPr marL="0" indent="0" latinLnBrk="0">
              <a:buNone/>
              <a:defRPr lang="zh-CN" sz="16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BEEBAAA-29B5-4AF5-BC5F-7E580C29002D}" type="datetimeFigureOut">
              <a:t>2017/11/4</a:t>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9860EDB8-5305-433F-BE41-D7A86D811DB3}" type="slidenum">
              <a:t>‹#›</a:t>
            </a:fld>
            <a:endParaRPr lang="zh-CN"/>
          </a:p>
        </p:txBody>
      </p:sp>
    </p:spTree>
    <p:extLst>
      <p:ext uri="{BB962C8B-B14F-4D97-AF65-F5344CB8AC3E}">
        <p14:creationId xmlns:p14="http://schemas.microsoft.com/office/powerpoint/2010/main" val="3161095380"/>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7" name="矩形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596921339"/>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7" name="矩形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竖排标题 1"/>
          <p:cNvSpPr>
            <a:spLocks noGrp="1"/>
          </p:cNvSpPr>
          <p:nvPr>
            <p:ph type="title" orient="vert"/>
          </p:nvPr>
        </p:nvSpPr>
        <p:spPr>
          <a:xfrm>
            <a:off x="10215419" y="365125"/>
            <a:ext cx="1819564" cy="5811838"/>
          </a:xfrm>
        </p:spPr>
        <p:txBody>
          <a:bodyPr vert="eaVert"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302266631"/>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latinLnBrk="0">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fld id="{8BEEBAAA-29B5-4AF5-BC5F-7E580C29002D}" type="datetimeFigureOut">
              <a:rPr lang="en-US" altLang="zh-CN" smtClean="0"/>
              <a:pPr/>
              <a:t>11/4/17</a:t>
            </a:fld>
            <a:endParaRPr lang="zh-CN" altLang="en-US"/>
          </a:p>
        </p:txBody>
      </p:sp>
      <p:sp>
        <p:nvSpPr>
          <p:cNvPr id="5" name="页脚占位符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latinLnBrk="0">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幻灯片编号占位符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latinLnBrk="0">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fld id="{9860EDB8-5305-433F-BE41-D7A86D811DB3}" type="slidenum">
              <a:rPr lang="en-US" altLang="zh-CN" smtClean="0"/>
              <a:pPr/>
              <a:t>‹#›</a:t>
            </a:fld>
            <a:endParaRPr lang="en-US" altLang="zh-CN"/>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wipe dir="r"/>
  </p:transition>
  <p:txStyles>
    <p:titleStyle>
      <a:lvl1pPr algn="l" defTabSz="914400" rtl="0" eaLnBrk="1" latinLnBrk="0" hangingPunct="1">
        <a:spcBef>
          <a:spcPct val="0"/>
        </a:spcBef>
        <a:buNone/>
        <a:defRPr lang="zh-CN" sz="4400" kern="1200">
          <a:solidFill>
            <a:schemeClr val="tx1"/>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lang="zh-CN" sz="28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lang="zh-CN" sz="24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oleObject" Target="../embeddings/Microsoft_Visio_2003-2010___11.vsd"/><Relationship Id="rId5" Type="http://schemas.openxmlformats.org/officeDocument/2006/relationships/image" Target="../media/image2.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oleObject" Target="../embeddings/Microsoft_Visio_2003-2010___22.vsd"/><Relationship Id="rId5" Type="http://schemas.openxmlformats.org/officeDocument/2006/relationships/image" Target="../media/image3.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log.sina.com.cn/zhousu5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628846" y="473149"/>
            <a:ext cx="3038400" cy="402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54604" y="498908"/>
            <a:ext cx="3000778" cy="3988335"/>
          </a:xfrm>
          <a:prstGeom prst="rect">
            <a:avLst/>
          </a:prstGeom>
        </p:spPr>
      </p:pic>
      <p:sp>
        <p:nvSpPr>
          <p:cNvPr id="2" name="标题 1"/>
          <p:cNvSpPr>
            <a:spLocks noGrp="1"/>
          </p:cNvSpPr>
          <p:nvPr>
            <p:ph type="ctrTitle"/>
          </p:nvPr>
        </p:nvSpPr>
        <p:spPr>
          <a:xfrm>
            <a:off x="839277" y="2073885"/>
            <a:ext cx="10515600" cy="2387600"/>
          </a:xfrm>
        </p:spPr>
        <p:txBody>
          <a:bodyPr/>
          <a:lstStyle/>
          <a:p>
            <a:r>
              <a:rPr lang="zh-CN" altLang="en-US" sz="44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新编 </a:t>
            </a:r>
            <a:r>
              <a:rPr lang="zh-CN" altLang="en-US"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计算机导论</a:t>
            </a:r>
            <a:r>
              <a:rPr lang="zh-CN" altLang="en-US"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（第二版）</a:t>
            </a:r>
            <a: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
            </a:r>
            <a:b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br>
            <a: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
            </a:r>
            <a:b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br>
            <a:r>
              <a:rPr lang="en-US" altLang="zh-CN" sz="10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
            </a:r>
            <a:br>
              <a:rPr lang="en-US" altLang="zh-CN" sz="10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br>
            <a:r>
              <a:rPr lang="zh-CN" altLang="en-US" sz="2800" b="1" dirty="0" smtClean="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机械工业出版社 </a:t>
            </a:r>
            <a:r>
              <a:rPr lang="en-US" altLang="zh-CN" sz="2800" b="1" dirty="0" smtClean="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2015-3</a:t>
            </a:r>
            <a:endParaRPr 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6" name="Rectangle 7"/>
          <p:cNvSpPr>
            <a:spLocks noChangeArrowheads="1"/>
          </p:cNvSpPr>
          <p:nvPr/>
        </p:nvSpPr>
        <p:spPr bwMode="auto">
          <a:xfrm>
            <a:off x="2575331" y="4913313"/>
            <a:ext cx="921543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30000"/>
              </a:lnSpc>
              <a:spcBef>
                <a:spcPct val="20000"/>
              </a:spcBef>
              <a:defRPr kumimoji="1" sz="2000" b="1">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defRPr>
            </a:lvl1pPr>
            <a:lvl2pPr algn="ctr">
              <a:lnSpc>
                <a:spcPct val="130000"/>
              </a:lnSpc>
              <a:spcBef>
                <a:spcPct val="20000"/>
              </a:spcBef>
              <a:defRPr kumimoji="1" sz="2400"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2pPr>
            <a:lvl3pPr algn="ctr">
              <a:lnSpc>
                <a:spcPct val="130000"/>
              </a:lnSpc>
              <a:spcBef>
                <a:spcPct val="20000"/>
              </a:spcBef>
              <a:defRPr kumimoji="1" sz="2000"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3pPr>
            <a:lvl4pPr algn="ctr">
              <a:lnSpc>
                <a:spcPct val="130000"/>
              </a:lnSpc>
              <a:spcBef>
                <a:spcPct val="20000"/>
              </a:spcBef>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4pPr>
            <a:lvl5pPr algn="ctr">
              <a:lnSpc>
                <a:spcPct val="130000"/>
              </a:lnSpc>
              <a:spcBef>
                <a:spcPct val="20000"/>
              </a:spcBef>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5pPr>
            <a:lvl6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6pPr>
            <a:lvl7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7pPr>
            <a:lvl8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8pPr>
            <a:lvl9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9pPr>
          </a:lstStyle>
          <a:p>
            <a:pPr algn="r">
              <a:lnSpc>
                <a:spcPct val="120000"/>
              </a:lnSpc>
            </a:pPr>
            <a:r>
              <a:rPr lang="zh-CN" altLang="en-US" sz="3600" dirty="0">
                <a:effectLst>
                  <a:outerShdw blurRad="38100" dist="38100" dir="2700000" algn="tl">
                    <a:srgbClr val="000000"/>
                  </a:outerShdw>
                </a:effectLst>
                <a:latin typeface="华文新魏" panose="02010800040101010101" pitchFamily="2" charset="-122"/>
                <a:ea typeface="华文新魏" panose="02010800040101010101" pitchFamily="2" charset="-122"/>
              </a:rPr>
              <a:t>周 苏</a:t>
            </a:r>
            <a:r>
              <a:rPr lang="zh-CN" altLang="en-US" sz="2800" dirty="0">
                <a:effectLst>
                  <a:outerShdw blurRad="38100" dist="38100" dir="2700000" algn="tl">
                    <a:srgbClr val="000000"/>
                  </a:outerShdw>
                </a:effectLst>
                <a:latin typeface="华文新魏" panose="02010800040101010101" pitchFamily="2" charset="-122"/>
                <a:ea typeface="华文新魏" panose="02010800040101010101" pitchFamily="2" charset="-122"/>
              </a:rPr>
              <a:t>教授</a:t>
            </a:r>
          </a:p>
          <a:p>
            <a:pPr algn="r">
              <a:lnSpc>
                <a:spcPct val="120000"/>
              </a:lnSpc>
            </a:pP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手机：</a:t>
            </a:r>
            <a:r>
              <a:rPr lang="en-US" altLang="zh-CN" sz="2400" dirty="0" smtClean="0">
                <a:effectLst>
                  <a:outerShdw blurRad="38100" dist="38100" dir="2700000" algn="tl">
                    <a:srgbClr val="000000"/>
                  </a:outerShdw>
                </a:effectLst>
                <a:latin typeface="华文新魏" panose="02010800040101010101" pitchFamily="2" charset="-122"/>
                <a:ea typeface="华文新魏" panose="02010800040101010101" pitchFamily="2" charset="-122"/>
              </a:rPr>
              <a:t>13805784515      </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QQ</a:t>
            </a: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81505050</a:t>
            </a:r>
          </a:p>
          <a:p>
            <a:pPr algn="r">
              <a:lnSpc>
                <a:spcPct val="120000"/>
              </a:lnSpc>
            </a:pP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博客：</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http://blog.sina.com.cn/zhousu58   </a:t>
            </a: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邮箱：</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zhousu@qq.com</a:t>
            </a:r>
          </a:p>
        </p:txBody>
      </p:sp>
    </p:spTree>
    <p:extLst>
      <p:ext uri="{BB962C8B-B14F-4D97-AF65-F5344CB8AC3E}">
        <p14:creationId xmlns:p14="http://schemas.microsoft.com/office/powerpoint/2010/main" val="24718077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第</a:t>
            </a:r>
            <a:r>
              <a:rPr lang="en-US" altLang="zh-CN"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a:t>
            </a:r>
            <a:r>
              <a:rPr lang="zh-CN" altLang="en-US" b="1"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章  软件工程与开发方法</a:t>
            </a:r>
            <a:endParaRPr lang="zh-CN" sz="28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软件工程和硬件工程都可以看成是计算机系统工程的一部分。用于计算机硬件的工程技术是由电子设计技术发展起来的，而且在几十年的时间里已经达到了比较成熟的水平，虽然制造方法仍在不断地改进，但硬件的可靠性已经是一种可以期待的现实而不再是一种愿望了。</a:t>
            </a:r>
          </a:p>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但是，软件工程还处于某种困境之中。在以计算机为基础的系统中，软件已经取代硬件，成为系统中设计最困难、最不容易成功（即不能按时完成和容易超出预计的开发成本，且最不易管理）的部分。另一方面，随着以计算机为基础的系统在数量、复杂程度和应用范围上的不断增长，对软件的需求却有增无减。软件工程就是建立在这样的基础之上</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16600150"/>
      </p:ext>
    </p:extLst>
  </p:cSld>
  <p:clrMapOvr>
    <a:masterClrMapping/>
  </p:clrMapOvr>
  <p:transition spd="slow">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软件生存周期及其模型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a:t>
            </a:r>
            <a:r>
              <a:rPr lang="zh-CN" altLang="en-US" sz="2400" b="1" dirty="0">
                <a:solidFill>
                  <a:schemeClr val="tx1"/>
                </a:solidFill>
                <a:effectLst>
                  <a:outerShdw blurRad="38100" dist="38100" dir="2700000" algn="tl">
                    <a:srgbClr val="000000">
                      <a:alpha val="43137"/>
                    </a:srgbClr>
                  </a:outerShdw>
                </a:effectLst>
              </a:rPr>
              <a:t>生存周期是软件工程中的一个基础概念。国家标准</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软件工程术语</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GB/T11457</a:t>
            </a:r>
            <a:r>
              <a:rPr lang="zh-CN" altLang="en-US" sz="2400" b="1" dirty="0">
                <a:solidFill>
                  <a:schemeClr val="tx1"/>
                </a:solidFill>
                <a:effectLst>
                  <a:outerShdw blurRad="38100" dist="38100" dir="2700000" algn="tl">
                    <a:srgbClr val="000000">
                      <a:alpha val="43137"/>
                    </a:srgbClr>
                  </a:outerShdw>
                </a:effectLst>
              </a:rPr>
              <a:t>）定义了软件生存周期，即：从设计软件产品开始到产品不能再使用时为止的时间周期。亦即：一个计算机软件，从出现一个构思之日起，经过开发成功投入使用，在使用中不断增补修订，直到最后决定停止使用，并被另一项软件代替之时止，被认为是该软件的一个生存周期（或称生命周期、生存期，</a:t>
            </a:r>
            <a:r>
              <a:rPr lang="en-US" altLang="zh-CN" sz="2400" b="1" dirty="0">
                <a:solidFill>
                  <a:schemeClr val="tx1"/>
                </a:solidFill>
                <a:effectLst>
                  <a:outerShdw blurRad="38100" dist="38100" dir="2700000" algn="tl">
                    <a:srgbClr val="000000">
                      <a:alpha val="43137"/>
                    </a:srgbClr>
                  </a:outerShdw>
                </a:effectLst>
              </a:rPr>
              <a:t>life cycle</a:t>
            </a:r>
            <a:r>
              <a:rPr lang="zh-CN" altLang="en-US" sz="2400" b="1" dirty="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96902614"/>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一</a:t>
            </a:r>
            <a:r>
              <a:rPr lang="zh-CN" altLang="en-US" sz="2400" b="1" dirty="0">
                <a:solidFill>
                  <a:schemeClr val="tx1"/>
                </a:solidFill>
                <a:effectLst>
                  <a:outerShdw blurRad="38100" dist="38100" dir="2700000" algn="tl">
                    <a:srgbClr val="000000">
                      <a:alpha val="43137"/>
                    </a:srgbClr>
                  </a:outerShdw>
                </a:effectLst>
              </a:rPr>
              <a:t>个软件产品的生存周期可以划分成若干个互相区别而又有联系的阶段，每个阶段中的工作均以上一阶段工作的结果为依据，并为下一阶段的工作提供了前提。经验表明，失误造成的差错越是发生在生存周期的前期，在系统交付使用时造成的影响和损失就越大，要纠正它所花费的代价也越高。因而在前一阶段工作没有做好之前，决不要草率地进入下一阶段</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17543041"/>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国家标准</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计算机软件开发规范</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GB/T8566</a:t>
            </a:r>
            <a:r>
              <a:rPr lang="zh-CN" altLang="en-US" sz="2400" b="1" dirty="0">
                <a:solidFill>
                  <a:schemeClr val="tx1"/>
                </a:solidFill>
                <a:effectLst>
                  <a:outerShdw blurRad="38100" dist="38100" dir="2700000" algn="tl">
                    <a:srgbClr val="000000">
                      <a:alpha val="43137"/>
                    </a:srgbClr>
                  </a:outerShdw>
                </a:effectLst>
              </a:rPr>
              <a:t>）将软件生存周期划分为以下八个阶段，即：可行性研究与计划、需求分析、概要设计（即结构设计）、详细设计、实现（包括单元测试）、组装测试（即集成测试）、确认测试、使用和维护。软件生存周期是对软件的一种长远发展的看法，这种看法把软件开发之前和软件交付使用之后的一些活动都包括在软件生存周期之内。应当注意的是，软件系统的实际开发工作不可能直线地通过分析、设计、编程和测试等阶段，出现各阶段间的回复是不可避免的。</a:t>
            </a:r>
          </a:p>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软件生存周期的每个阶段都要产生一定规格的软件文件（文档）移交给下一阶段，使下一阶段在此基础上继续开展工作</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7952672"/>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a:t>
            </a:r>
            <a:r>
              <a:rPr lang="zh-CN" altLang="en-US" sz="3200" b="1" dirty="0">
                <a:effectLst>
                  <a:outerShdw blurRad="38100" dist="38100" dir="2700000" algn="tl">
                    <a:srgbClr val="000000">
                      <a:alpha val="43137"/>
                    </a:srgbClr>
                  </a:outerShdw>
                </a:effectLst>
              </a:rPr>
              <a:t>过程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软件生存周期过程</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GB/T8566</a:t>
            </a:r>
            <a:r>
              <a:rPr lang="zh-CN" altLang="en-US" sz="2400" b="1" dirty="0">
                <a:solidFill>
                  <a:schemeClr val="tx1"/>
                </a:solidFill>
                <a:effectLst>
                  <a:outerShdw blurRad="38100" dist="38100" dir="2700000" algn="tl">
                    <a:srgbClr val="000000">
                      <a:alpha val="43137"/>
                    </a:srgbClr>
                  </a:outerShdw>
                </a:effectLst>
              </a:rPr>
              <a:t>）根据软件工程的实践和软件工程学科的发展，进一步完善了软件生存周期的定义，即：从概念形成直到退役，并且由获取和供应软件产品及服务的各个过程组成。该标准把软件生存周期中开展的活动分为五个基本过程（获取过程、供应过程、开发过程、运作过程、维护过程）、八个支持过程（文档编制过程、配置管理过程、质量保证过程、验证过程、确认过程、联合评审过程、审核过程、问题解决过程）和</a:t>
            </a:r>
            <a:r>
              <a:rPr lang="en-US" altLang="zh-CN" sz="2400" b="1" dirty="0">
                <a:solidFill>
                  <a:schemeClr val="tx1"/>
                </a:solidFill>
                <a:effectLst>
                  <a:outerShdw blurRad="38100" dist="38100" dir="2700000" algn="tl">
                    <a:srgbClr val="000000">
                      <a:alpha val="43137"/>
                    </a:srgbClr>
                  </a:outerShdw>
                </a:effectLst>
              </a:rPr>
              <a:t>4</a:t>
            </a:r>
            <a:r>
              <a:rPr lang="zh-CN" altLang="en-US" sz="2400" b="1" dirty="0">
                <a:solidFill>
                  <a:schemeClr val="tx1"/>
                </a:solidFill>
                <a:effectLst>
                  <a:outerShdw blurRad="38100" dist="38100" dir="2700000" algn="tl">
                    <a:srgbClr val="000000">
                      <a:alpha val="43137"/>
                    </a:srgbClr>
                  </a:outerShdw>
                </a:effectLst>
              </a:rPr>
              <a:t>个组织过程（管理过程、基础设施过程、改进过程、培训过程）</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32153718"/>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a:t>
            </a:r>
            <a:r>
              <a:rPr lang="zh-CN" altLang="en-US" sz="3200" b="1" dirty="0">
                <a:effectLst>
                  <a:outerShdw blurRad="38100" dist="38100" dir="2700000" algn="tl">
                    <a:srgbClr val="000000">
                      <a:alpha val="43137"/>
                    </a:srgbClr>
                  </a:outerShdw>
                </a:effectLst>
              </a:rPr>
              <a:t>过程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a:t>
            </a:r>
            <a:r>
              <a:rPr lang="zh-CN" altLang="en-US" sz="2400" b="1" dirty="0">
                <a:solidFill>
                  <a:schemeClr val="tx1"/>
                </a:solidFill>
                <a:effectLst>
                  <a:outerShdw blurRad="38100" dist="38100" dir="2700000" algn="tl">
                    <a:srgbClr val="000000">
                      <a:alpha val="43137"/>
                    </a:srgbClr>
                  </a:outerShdw>
                </a:effectLst>
              </a:rPr>
              <a:t>生存周期过程中阶段的划分，有助于软件研制管理人员借用传统工程的管理方法（重视工程性文件的编制，采用专业化分工方法，在不同阶段使用不同的人员等），从而有利于明显提高软件质量、降低成本、合理使用人才、进而提高软件开发的劳动生产率</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1144345"/>
      </p:ext>
    </p:extLst>
  </p:cSld>
  <p:clrMapOvr>
    <a:masterClrMapping/>
  </p:clrMapOvr>
  <p:transition spd="slow">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软件生存周期模型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a:t>
            </a:r>
            <a:r>
              <a:rPr lang="zh-CN" altLang="en-US" sz="2400" b="1" dirty="0">
                <a:solidFill>
                  <a:schemeClr val="tx1"/>
                </a:solidFill>
                <a:effectLst>
                  <a:outerShdw blurRad="38100" dist="38100" dir="2700000" algn="tl">
                    <a:srgbClr val="000000">
                      <a:alpha val="43137"/>
                    </a:srgbClr>
                  </a:outerShdw>
                </a:effectLst>
              </a:rPr>
              <a:t>生存周期模型（又称软件开发模型）是软件工程的一个重要概念，它可以定义为：一个框架，它含有遍历系统从确定需求到终止使用这一生存周期的软件产品的开发、运行和维护中需实施的过程、活动和任务。</a:t>
            </a:r>
          </a:p>
          <a:p>
            <a:r>
              <a:rPr lang="zh-CN" altLang="en-US" sz="2400" b="1" dirty="0">
                <a:solidFill>
                  <a:schemeClr val="tx1"/>
                </a:solidFill>
                <a:effectLst>
                  <a:outerShdw blurRad="38100" dist="38100" dir="2700000" algn="tl">
                    <a:srgbClr val="000000">
                      <a:alpha val="43137"/>
                    </a:srgbClr>
                  </a:outerShdw>
                </a:effectLst>
              </a:rPr>
              <a:t>软件生存周期模型能清晰、直观地表达软件开发全过程，明确规定了开发工作各阶段所要完成的主要活动和任务，以作为软件项目开发工作的基础。对于不同的软件系统，可以采用不同的开发方法、使用不同的程序设计语言以及各种不同技能的人员参与工作、运用不同的管理方法和手段等，以及允许采用不同的软件工具和不同的软件工程环境。软件生存周期模型是稳定有效和普遍适用的</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36351174"/>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软件生存周期模型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软件生存周期过程中，软件生存周期模型仅对软件的开发、运作和维护过程有意义，在</a:t>
            </a:r>
            <a:r>
              <a:rPr lang="en-US" altLang="zh-CN" sz="2400" b="1" dirty="0">
                <a:solidFill>
                  <a:schemeClr val="tx1"/>
                </a:solidFill>
                <a:effectLst>
                  <a:outerShdw blurRad="38100" dist="38100" dir="2700000" algn="tl">
                    <a:srgbClr val="000000">
                      <a:alpha val="43137"/>
                    </a:srgbClr>
                  </a:outerShdw>
                </a:effectLst>
              </a:rPr>
              <a:t>ISO12207</a:t>
            </a:r>
            <a:r>
              <a:rPr lang="zh-CN" altLang="en-US" sz="2400" b="1" dirty="0">
                <a:solidFill>
                  <a:schemeClr val="tx1"/>
                </a:solidFill>
                <a:effectLst>
                  <a:outerShdw blurRad="38100" dist="38100" dir="2700000" algn="tl">
                    <a:srgbClr val="000000">
                      <a:alpha val="43137"/>
                    </a:srgbClr>
                  </a:outerShdw>
                </a:effectLst>
              </a:rPr>
              <a:t>和</a:t>
            </a:r>
            <a:r>
              <a:rPr lang="en-US" altLang="zh-CN" sz="2400" b="1" dirty="0">
                <a:solidFill>
                  <a:schemeClr val="tx1"/>
                </a:solidFill>
                <a:effectLst>
                  <a:outerShdw blurRad="38100" dist="38100" dir="2700000" algn="tl">
                    <a:srgbClr val="000000">
                      <a:alpha val="43137"/>
                    </a:srgbClr>
                  </a:outerShdw>
                </a:effectLst>
              </a:rPr>
              <a:t>ISO9000-3</a:t>
            </a:r>
            <a:r>
              <a:rPr lang="zh-CN" altLang="en-US" sz="2400" b="1" dirty="0">
                <a:solidFill>
                  <a:schemeClr val="tx1"/>
                </a:solidFill>
                <a:effectLst>
                  <a:outerShdw blurRad="38100" dist="38100" dir="2700000" algn="tl">
                    <a:srgbClr val="000000">
                      <a:alpha val="43137"/>
                    </a:srgbClr>
                  </a:outerShdw>
                </a:effectLst>
              </a:rPr>
              <a:t>中都提到软件生存周期模型，它包括：瀑布模型、渐增模型、演化模型、螺旋模型、喷泉模型和智能模型等。</a:t>
            </a:r>
          </a:p>
          <a:p>
            <a:r>
              <a:rPr lang="zh-CN" altLang="en-US" sz="2400" b="1" dirty="0">
                <a:solidFill>
                  <a:schemeClr val="tx1"/>
                </a:solidFill>
                <a:effectLst>
                  <a:outerShdw blurRad="38100" dist="38100" dir="2700000" algn="tl">
                    <a:srgbClr val="000000">
                      <a:alpha val="43137"/>
                    </a:srgbClr>
                  </a:outerShdw>
                </a:effectLst>
              </a:rPr>
              <a:t>例如：</a:t>
            </a:r>
            <a:r>
              <a:rPr lang="zh-CN" altLang="en-US" sz="2400" b="1" dirty="0" smtClean="0">
                <a:solidFill>
                  <a:schemeClr val="tx1"/>
                </a:solidFill>
                <a:effectLst>
                  <a:outerShdw blurRad="38100" dist="38100" dir="2700000" algn="tl">
                    <a:srgbClr val="000000">
                      <a:alpha val="43137"/>
                    </a:srgbClr>
                  </a:outerShdw>
                </a:effectLst>
              </a:rPr>
              <a:t>瀑布模型是</a:t>
            </a:r>
            <a:r>
              <a:rPr lang="en-US" altLang="zh-CN" sz="2400" b="1" dirty="0">
                <a:solidFill>
                  <a:schemeClr val="tx1"/>
                </a:solidFill>
                <a:effectLst>
                  <a:outerShdw blurRad="38100" dist="38100" dir="2700000" algn="tl">
                    <a:srgbClr val="000000">
                      <a:alpha val="43137"/>
                    </a:srgbClr>
                  </a:outerShdw>
                </a:effectLst>
              </a:rPr>
              <a:t>1970</a:t>
            </a:r>
            <a:r>
              <a:rPr lang="zh-CN" altLang="en-US" sz="2400" b="1" dirty="0">
                <a:solidFill>
                  <a:schemeClr val="tx1"/>
                </a:solidFill>
                <a:effectLst>
                  <a:outerShdw blurRad="38100" dist="38100" dir="2700000" algn="tl">
                    <a:srgbClr val="000000">
                      <a:alpha val="43137"/>
                    </a:srgbClr>
                  </a:outerShdw>
                </a:effectLst>
              </a:rPr>
              <a:t>年</a:t>
            </a:r>
            <a:r>
              <a:rPr lang="en-US" altLang="zh-CN" sz="2400" b="1" dirty="0">
                <a:solidFill>
                  <a:schemeClr val="tx1"/>
                </a:solidFill>
                <a:effectLst>
                  <a:outerShdw blurRad="38100" dist="38100" dir="2700000" algn="tl">
                    <a:srgbClr val="000000">
                      <a:alpha val="43137"/>
                    </a:srgbClr>
                  </a:outerShdw>
                </a:effectLst>
              </a:rPr>
              <a:t>W. Royce</a:t>
            </a:r>
            <a:r>
              <a:rPr lang="zh-CN" altLang="en-US" sz="2400" b="1" dirty="0">
                <a:solidFill>
                  <a:schemeClr val="tx1"/>
                </a:solidFill>
                <a:effectLst>
                  <a:outerShdw blurRad="38100" dist="38100" dir="2700000" algn="tl">
                    <a:srgbClr val="000000">
                      <a:alpha val="43137"/>
                    </a:srgbClr>
                  </a:outerShdw>
                </a:effectLst>
              </a:rPr>
              <a:t>提出的最早的软件开发模型，它将软件开发过程中的各项活动规定为依固定顺序连接的若干阶段工作，形如瀑布流水，如图</a:t>
            </a:r>
            <a:r>
              <a:rPr lang="en-US" altLang="zh-CN" sz="2400" b="1" dirty="0">
                <a:solidFill>
                  <a:schemeClr val="tx1"/>
                </a:solidFill>
                <a:effectLst>
                  <a:outerShdw blurRad="38100" dist="38100" dir="2700000" algn="tl">
                    <a:srgbClr val="000000">
                      <a:alpha val="43137"/>
                    </a:srgbClr>
                  </a:outerShdw>
                </a:effectLst>
              </a:rPr>
              <a:t>13-1</a:t>
            </a:r>
            <a:r>
              <a:rPr lang="zh-CN" altLang="en-US" sz="2400" b="1" dirty="0">
                <a:solidFill>
                  <a:schemeClr val="tx1"/>
                </a:solidFill>
                <a:effectLst>
                  <a:outerShdw blurRad="38100" dist="38100" dir="2700000" algn="tl">
                    <a:srgbClr val="000000">
                      <a:alpha val="43137"/>
                    </a:srgbClr>
                  </a:outerShdw>
                </a:effectLst>
              </a:rPr>
              <a:t>所示，最终得到软件系统或软件产品。换句话说，它将软件开发过程划分成若干个互相区别而又彼此联系的阶段，每个阶段中的工作都以上一个阶段工作的结果为依据，同时为下一个阶段的工作提供了前提</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19700901"/>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13.1.3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软件生存周期模型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6065952"/>
            <a:ext cx="11140224" cy="568043"/>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13-1  </a:t>
            </a:r>
            <a:r>
              <a:rPr lang="zh-CN" altLang="en-US" sz="2000" b="1" dirty="0">
                <a:solidFill>
                  <a:schemeClr val="tx1"/>
                </a:solidFill>
                <a:effectLst>
                  <a:outerShdw blurRad="38100" dist="38100" dir="2700000" algn="tl">
                    <a:srgbClr val="000000">
                      <a:alpha val="43137"/>
                    </a:srgbClr>
                  </a:outerShdw>
                </a:effectLst>
              </a:rPr>
              <a:t>软件生存周期的</a:t>
            </a:r>
            <a:r>
              <a:rPr lang="zh-CN" altLang="en-US" sz="2000" b="1" dirty="0" smtClean="0">
                <a:solidFill>
                  <a:schemeClr val="tx1"/>
                </a:solidFill>
                <a:effectLst>
                  <a:outerShdw blurRad="38100" dist="38100" dir="2700000" algn="tl">
                    <a:srgbClr val="000000">
                      <a:alpha val="43137"/>
                    </a:srgbClr>
                  </a:outerShdw>
                </a:effectLst>
              </a:rPr>
              <a:t>瀑布模型</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52209085"/>
              </p:ext>
            </p:extLst>
          </p:nvPr>
        </p:nvGraphicFramePr>
        <p:xfrm>
          <a:off x="1005625" y="1841679"/>
          <a:ext cx="10348175" cy="4170160"/>
        </p:xfrm>
        <a:graphic>
          <a:graphicData uri="http://schemas.openxmlformats.org/presentationml/2006/ole">
            <mc:AlternateContent xmlns:mc="http://schemas.openxmlformats.org/markup-compatibility/2006">
              <mc:Choice xmlns:v="urn:schemas-microsoft-com:vml" Requires="v">
                <p:oleObj spid="_x0000_s1031" name="Visio" r:id="rId4" imgW="5693459" imgH="2296441" progId="Visio.Drawing.11">
                  <p:embed/>
                </p:oleObj>
              </mc:Choice>
              <mc:Fallback>
                <p:oleObj name="Visio" r:id="rId4" imgW="5693459" imgH="2296441"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5625" y="1841679"/>
                        <a:ext cx="10348175" cy="4170160"/>
                      </a:xfrm>
                      <a:prstGeom prst="rect">
                        <a:avLst/>
                      </a:prstGeom>
                      <a:noFill/>
                    </p:spPr>
                  </p:pic>
                </p:oleObj>
              </mc:Fallback>
            </mc:AlternateContent>
          </a:graphicData>
        </a:graphic>
      </p:graphicFrame>
    </p:spTree>
    <p:extLst>
      <p:ext uri="{BB962C8B-B14F-4D97-AF65-F5344CB8AC3E}">
        <p14:creationId xmlns:p14="http://schemas.microsoft.com/office/powerpoint/2010/main" val="3382884628"/>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软件工程定义</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发展</a:t>
            </a:r>
            <a:r>
              <a:rPr lang="zh-CN" altLang="en-US" sz="2400" b="1" dirty="0">
                <a:solidFill>
                  <a:schemeClr val="tx1"/>
                </a:solidFill>
                <a:effectLst>
                  <a:outerShdw blurRad="38100" dist="38100" dir="2700000" algn="tl">
                    <a:srgbClr val="000000">
                      <a:alpha val="43137"/>
                    </a:srgbClr>
                  </a:outerShdw>
                </a:effectLst>
              </a:rPr>
              <a:t>至今，软件工程已经是一门交叉性学科，它是解决软件问题的工程，对它的理解不应是静止的和孤立的。软件工程是应用计算机科学、数学及管理科学等原理，借鉴传统工程的原则、方法来创建软件，从而达到提高质量、降低成本的目的。其中，计算机科学和数学用于构造模型、分析算法，工程科学用于制定规范、明确风格、评估成本、确定权衡，管理科学用于进度、资源、质量、成本等的管理</a:t>
            </a:r>
            <a:r>
              <a:rPr lang="zh-CN" altLang="en-US" sz="2400" b="1" dirty="0" smtClean="0">
                <a:solidFill>
                  <a:schemeClr val="tx1"/>
                </a:solidFill>
                <a:effectLst>
                  <a:outerShdw blurRad="38100" dist="38100" dir="2700000" algn="tl">
                    <a:srgbClr val="000000">
                      <a:alpha val="43137"/>
                    </a:srgbClr>
                  </a:outerShdw>
                </a:effectLst>
              </a:rPr>
              <a:t>。</a:t>
            </a:r>
            <a:endParaRPr lang="en-US" altLang="zh-CN" sz="2400" b="1" dirty="0" smtClean="0">
              <a:solidFill>
                <a:schemeClr val="tx1"/>
              </a:solidFill>
              <a:effectLst>
                <a:outerShdw blurRad="38100" dist="38100" dir="2700000" algn="tl">
                  <a:srgbClr val="000000">
                    <a:alpha val="43137"/>
                  </a:srgbClr>
                </a:outerShdw>
              </a:effectLst>
            </a:endParaRPr>
          </a:p>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软件工程</a:t>
            </a:r>
            <a:r>
              <a:rPr lang="zh-CN" altLang="en-US" sz="2400" b="1" dirty="0">
                <a:solidFill>
                  <a:schemeClr val="tx1"/>
                </a:solidFill>
                <a:effectLst>
                  <a:outerShdw blurRad="38100" dist="38100" dir="2700000" algn="tl">
                    <a:srgbClr val="000000">
                      <a:alpha val="43137"/>
                    </a:srgbClr>
                  </a:outerShdw>
                </a:effectLst>
              </a:rPr>
              <a:t>的目标是明确的，就是研制开发与生产出具有良好质量和费用合算的软件产品。费用合算是指软件开发运行的整个开销能满足用户的要求，软件质量是指该软件能满足明确的和隐含的需求能力的有关特征和特性的总和</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71214878"/>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软件工程定义</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软件工程</a:t>
            </a:r>
            <a:r>
              <a:rPr lang="zh-CN" altLang="en-US" sz="2400" b="1" dirty="0">
                <a:solidFill>
                  <a:schemeClr val="tx1"/>
                </a:solidFill>
                <a:effectLst>
                  <a:outerShdw blurRad="38100" dist="38100" dir="2700000" algn="tl">
                    <a:srgbClr val="000000">
                      <a:alpha val="43137"/>
                    </a:srgbClr>
                  </a:outerShdw>
                </a:effectLst>
              </a:rPr>
              <a:t>的基础是一些指导性的原则，例如以下几点。</a:t>
            </a:r>
          </a:p>
          <a:p>
            <a:pPr lvl="1"/>
            <a:r>
              <a:rPr lang="zh-CN" altLang="en-US" sz="2200" b="1" dirty="0" smtClean="0">
                <a:solidFill>
                  <a:schemeClr val="tx1"/>
                </a:solidFill>
                <a:effectLst>
                  <a:outerShdw blurRad="38100" dist="38100" dir="2700000" algn="tl">
                    <a:srgbClr val="000000">
                      <a:alpha val="43137"/>
                    </a:srgbClr>
                  </a:outerShdw>
                </a:effectLst>
              </a:rPr>
              <a:t>必须</a:t>
            </a:r>
            <a:r>
              <a:rPr lang="zh-CN" altLang="en-US" sz="2200" b="1" dirty="0">
                <a:solidFill>
                  <a:schemeClr val="tx1"/>
                </a:solidFill>
                <a:effectLst>
                  <a:outerShdw blurRad="38100" dist="38100" dir="2700000" algn="tl">
                    <a:srgbClr val="000000">
                      <a:alpha val="43137"/>
                    </a:srgbClr>
                  </a:outerShdw>
                </a:effectLst>
              </a:rPr>
              <a:t>认识软件需求的变动性，并采取适当措施来保证结果产品能忠实地满足用户要求。软件设计中，通常要考虑模块化、抽象与信息隐蔽、局部化、一致性等原则。</a:t>
            </a:r>
          </a:p>
          <a:p>
            <a:pPr lvl="1"/>
            <a:r>
              <a:rPr lang="zh-CN" altLang="en-US" sz="2200" b="1" dirty="0" smtClean="0">
                <a:solidFill>
                  <a:schemeClr val="tx1"/>
                </a:solidFill>
                <a:effectLst>
                  <a:outerShdw blurRad="38100" dist="38100" dir="2700000" algn="tl">
                    <a:srgbClr val="000000">
                      <a:alpha val="43137"/>
                    </a:srgbClr>
                  </a:outerShdw>
                </a:effectLst>
              </a:rPr>
              <a:t>稳妥</a:t>
            </a:r>
            <a:r>
              <a:rPr lang="zh-CN" altLang="en-US" sz="2200" b="1" dirty="0">
                <a:solidFill>
                  <a:schemeClr val="tx1"/>
                </a:solidFill>
                <a:effectLst>
                  <a:outerShdw blurRad="38100" dist="38100" dir="2700000" algn="tl">
                    <a:srgbClr val="000000">
                      <a:alpha val="43137"/>
                    </a:srgbClr>
                  </a:outerShdw>
                </a:effectLst>
              </a:rPr>
              <a:t>的设计方法大大地方便软件开发，为达到软件工程的目标，软件工具与环境对软件设计的支持来说，颇为重要。</a:t>
            </a:r>
          </a:p>
          <a:p>
            <a:pPr lvl="1"/>
            <a:r>
              <a:rPr lang="zh-CN" altLang="en-US" sz="2200" b="1" dirty="0" smtClean="0">
                <a:solidFill>
                  <a:schemeClr val="tx1"/>
                </a:solidFill>
                <a:effectLst>
                  <a:outerShdw blurRad="38100" dist="38100" dir="2700000" algn="tl">
                    <a:srgbClr val="000000">
                      <a:alpha val="43137"/>
                    </a:srgbClr>
                  </a:outerShdw>
                </a:effectLst>
              </a:rPr>
              <a:t>软件工程</a:t>
            </a:r>
            <a:r>
              <a:rPr lang="zh-CN" altLang="en-US" sz="2200" b="1" dirty="0">
                <a:solidFill>
                  <a:schemeClr val="tx1"/>
                </a:solidFill>
                <a:effectLst>
                  <a:outerShdw blurRad="38100" dist="38100" dir="2700000" algn="tl">
                    <a:srgbClr val="000000">
                      <a:alpha val="43137"/>
                    </a:srgbClr>
                  </a:outerShdw>
                </a:effectLst>
              </a:rPr>
              <a:t>项目的质量与经济开销直接取决于对它所提供的支撑的质量与效用。</a:t>
            </a:r>
          </a:p>
          <a:p>
            <a:pPr lvl="1"/>
            <a:r>
              <a:rPr lang="zh-CN" altLang="en-US" sz="2200" b="1" dirty="0" smtClean="0">
                <a:solidFill>
                  <a:schemeClr val="tx1"/>
                </a:solidFill>
                <a:effectLst>
                  <a:outerShdw blurRad="38100" dist="38100" dir="2700000" algn="tl">
                    <a:srgbClr val="000000">
                      <a:alpha val="43137"/>
                    </a:srgbClr>
                  </a:outerShdw>
                </a:effectLst>
              </a:rPr>
              <a:t>有效</a:t>
            </a:r>
            <a:r>
              <a:rPr lang="zh-CN" altLang="en-US" sz="2200" b="1" dirty="0">
                <a:solidFill>
                  <a:schemeClr val="tx1"/>
                </a:solidFill>
                <a:effectLst>
                  <a:outerShdw blurRad="38100" dist="38100" dir="2700000" algn="tl">
                    <a:srgbClr val="000000">
                      <a:alpha val="43137"/>
                    </a:srgbClr>
                  </a:outerShdw>
                </a:effectLst>
              </a:rPr>
              <a:t>的软件工程只有在对软件过程进行有效管理的情况下才能实现</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16083464"/>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软件开发过程</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软件生存周期中，开发阶段可以概括为四个阶段，即分析、设计、实现和测试</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07261231"/>
      </p:ext>
    </p:extLst>
  </p:cSld>
  <p:clrMapOvr>
    <a:masterClrMapping/>
  </p:clrMapOvr>
  <p:transition spd="slow">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分析阶段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整个</a:t>
            </a:r>
            <a:r>
              <a:rPr lang="zh-CN" altLang="en-US" sz="2400" b="1" dirty="0">
                <a:solidFill>
                  <a:schemeClr val="tx1"/>
                </a:solidFill>
                <a:effectLst>
                  <a:outerShdw blurRad="38100" dist="38100" dir="2700000" algn="tl">
                    <a:srgbClr val="000000">
                      <a:alpha val="43137"/>
                    </a:srgbClr>
                  </a:outerShdw>
                </a:effectLst>
              </a:rPr>
              <a:t>开发过程始于分析阶段（包括可行性研究与计划、需求分析）。在这个阶段，系统分析员定义需求，指出系统所要实现的目标。这些需求通常用用户能理解的术语来表述。在分析阶段有四个步骤：</a:t>
            </a:r>
          </a:p>
          <a:p>
            <a:pPr lvl="1"/>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）定义用户。软件可以为一般用户或特殊用户而设计，必须很清楚地划分软件的使用者。</a:t>
            </a:r>
          </a:p>
          <a:p>
            <a:pPr lvl="1"/>
            <a:r>
              <a:rPr lang="en-US" altLang="zh-CN" sz="2200" b="1" dirty="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）定义要求。确定用户以后，系统分析员开始定义要求。在这个阶段，最好的答案来自于用户，用户或用户代表清楚地定义了他们对软件的期望</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31117919"/>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分析阶段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3</a:t>
            </a:r>
            <a:r>
              <a:rPr lang="zh-CN" altLang="en-US" sz="2200" b="1" dirty="0">
                <a:solidFill>
                  <a:schemeClr val="tx1"/>
                </a:solidFill>
                <a:effectLst>
                  <a:outerShdw blurRad="38100" dist="38100" dir="2700000" algn="tl">
                    <a:srgbClr val="000000">
                      <a:alpha val="43137"/>
                    </a:srgbClr>
                  </a:outerShdw>
                </a:effectLst>
              </a:rPr>
              <a:t>）定义需求。在用户要求的基础上，系统分析员能够准确地定义系统的需求。例如：假设一个软件在月底给每个雇员打印账单，则需要说明实现怎样的安全和精度的等级。</a:t>
            </a:r>
          </a:p>
          <a:p>
            <a:pPr lvl="1"/>
            <a:r>
              <a:rPr lang="en-US" altLang="zh-CN" sz="2200" b="1" dirty="0">
                <a:solidFill>
                  <a:schemeClr val="tx1"/>
                </a:solidFill>
                <a:effectLst>
                  <a:outerShdw blurRad="38100" dist="38100" dir="2700000" algn="tl">
                    <a:srgbClr val="000000">
                      <a:alpha val="43137"/>
                    </a:srgbClr>
                  </a:outerShdw>
                </a:effectLst>
              </a:rPr>
              <a:t>4</a:t>
            </a:r>
            <a:r>
              <a:rPr lang="zh-CN" altLang="en-US" sz="2200" b="1" dirty="0">
                <a:solidFill>
                  <a:schemeClr val="tx1"/>
                </a:solidFill>
                <a:effectLst>
                  <a:outerShdw blurRad="38100" dist="38100" dir="2700000" algn="tl">
                    <a:srgbClr val="000000">
                      <a:alpha val="43137"/>
                    </a:srgbClr>
                  </a:outerShdw>
                </a:effectLst>
              </a:rPr>
              <a:t>）定义方法。在清晰定义好需求之后，系统分析员应选择适当的方法来满足这些需求</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81366181"/>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设计阶段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设计阶段</a:t>
            </a:r>
            <a:r>
              <a:rPr lang="zh-CN" altLang="en-US" sz="2400" b="1" dirty="0">
                <a:solidFill>
                  <a:schemeClr val="tx1"/>
                </a:solidFill>
                <a:effectLst>
                  <a:outerShdw blurRad="38100" dist="38100" dir="2700000" algn="tl">
                    <a:srgbClr val="000000">
                      <a:alpha val="43137"/>
                    </a:srgbClr>
                  </a:outerShdw>
                </a:effectLst>
              </a:rPr>
              <a:t>定义系统怎样完成在分析阶段所定义的需求。在设计阶段，将确定系统，完成文件和（或）数据库的设计。</a:t>
            </a:r>
          </a:p>
          <a:p>
            <a:pPr lvl="1"/>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）模块化。设计阶段遵循模块化原则。整个程序包划分成许多小的模块。每个模块经过设计、测试并通过主程序与其他模块进行链接。</a:t>
            </a:r>
          </a:p>
          <a:p>
            <a:pPr lvl="1"/>
            <a:r>
              <a:rPr lang="en-US" altLang="zh-CN" sz="2200" b="1" dirty="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）工具。在设计阶段使用许多工具，其中最常用是模块结构图（</a:t>
            </a:r>
            <a:r>
              <a:rPr lang="en-US" altLang="zh-CN" sz="2200" b="1" dirty="0">
                <a:solidFill>
                  <a:schemeClr val="tx1"/>
                </a:solidFill>
                <a:effectLst>
                  <a:outerShdw blurRad="38100" dist="38100" dir="2700000" algn="tl">
                    <a:srgbClr val="000000">
                      <a:alpha val="43137"/>
                    </a:srgbClr>
                  </a:outerShdw>
                </a:effectLst>
              </a:rPr>
              <a:t>SC</a:t>
            </a:r>
            <a:r>
              <a:rPr lang="zh-CN" altLang="en-US" sz="2200" b="1" dirty="0">
                <a:solidFill>
                  <a:schemeClr val="tx1"/>
                </a:solidFill>
                <a:effectLst>
                  <a:outerShdw blurRad="38100" dist="38100" dir="2700000" algn="tl">
                    <a:srgbClr val="000000">
                      <a:alpha val="43137"/>
                    </a:srgbClr>
                  </a:outerShdw>
                </a:effectLst>
              </a:rPr>
              <a:t>）。模块结构图显示了如何将软件包分解成逻辑步骤，每个步骤就是一个独立的模块。模块结构图也显示了各部分（模块）之间的相互作用</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09973808"/>
      </p:ext>
    </p:extLst>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实现阶段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实现阶段，完成实际程序代码的编写。</a:t>
            </a:r>
          </a:p>
          <a:p>
            <a:pPr lvl="1">
              <a:spcBef>
                <a:spcPts val="600"/>
              </a:spcBef>
              <a:spcAft>
                <a:spcPts val="0"/>
              </a:spcAft>
            </a:pPr>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）工具。在这个阶段，在实际代码编写之前使用了许多工具来显示程序的逻辑流程。程序流程图（框图）是流行的主要工具之一。程序流程图使用标准的图形符号来表示贯穿模块的数据逻辑流程。</a:t>
            </a:r>
          </a:p>
          <a:p>
            <a:pPr lvl="1">
              <a:spcBef>
                <a:spcPts val="600"/>
              </a:spcBef>
              <a:spcAft>
                <a:spcPts val="0"/>
              </a:spcAft>
            </a:pPr>
            <a:r>
              <a:rPr lang="zh-CN" altLang="en-US" sz="2200" b="1" dirty="0">
                <a:solidFill>
                  <a:schemeClr val="tx1"/>
                </a:solidFill>
                <a:effectLst>
                  <a:outerShdw blurRad="38100" dist="38100" dir="2700000" algn="tl">
                    <a:srgbClr val="000000">
                      <a:alpha val="43137"/>
                    </a:srgbClr>
                  </a:outerShdw>
                </a:effectLst>
              </a:rPr>
              <a:t>第二个被程序员使用的工具是伪代码。伪代码部分是英文，部分是用精确的算法细节来描述程序将完成什么的程序逻辑。而这需要用足够的细节定义步骤，以便能够容易地转换成计算机程序。</a:t>
            </a:r>
          </a:p>
          <a:p>
            <a:pPr lvl="1">
              <a:spcBef>
                <a:spcPts val="600"/>
              </a:spcBef>
              <a:spcAft>
                <a:spcPts val="0"/>
              </a:spcAft>
            </a:pPr>
            <a:r>
              <a:rPr lang="en-US" altLang="zh-CN" sz="2200" b="1" dirty="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）编码。在完成程序流程图、伪代码、或两者都完成之后，程序员真正开始用指定的程序设计语言编写代码</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4240531"/>
      </p:ext>
    </p:extLst>
  </p:cSld>
  <p:clrMapOvr>
    <a:masterClrMapping/>
  </p:clrMapOvr>
  <p:transition spd="slow">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13.3.4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测试阶段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一旦</a:t>
            </a:r>
            <a:r>
              <a:rPr lang="zh-CN" altLang="en-US" sz="2400" b="1" dirty="0">
                <a:solidFill>
                  <a:schemeClr val="tx1"/>
                </a:solidFill>
                <a:effectLst>
                  <a:outerShdw blurRad="38100" dist="38100" dir="2700000" algn="tl">
                    <a:srgbClr val="000000">
                      <a:alpha val="43137"/>
                    </a:srgbClr>
                  </a:outerShdw>
                </a:effectLst>
              </a:rPr>
              <a:t>程序设计完成，必须进行测试。测试阶段是在程序开发中非常单调且很花费时间的部分。程序员负责测试他们编写的程序（单元测试）。在大型开发项目中，通常有专家担任测试工程师，负责测试整个系统（组装测试），这种测试将确保所有的程序都能在一起工作</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01905738"/>
      </p:ext>
    </p:extLst>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13.3.4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测试阶段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测试</a:t>
            </a:r>
            <a:r>
              <a:rPr lang="zh-CN" altLang="en-US" sz="2400" b="1" dirty="0">
                <a:solidFill>
                  <a:schemeClr val="tx1"/>
                </a:solidFill>
                <a:effectLst>
                  <a:outerShdw blurRad="38100" dist="38100" dir="2700000" algn="tl">
                    <a:srgbClr val="000000">
                      <a:alpha val="43137"/>
                    </a:srgbClr>
                  </a:outerShdw>
                </a:effectLst>
              </a:rPr>
              <a:t>的主要类型有两种：黑盒测试和白盒测试。</a:t>
            </a:r>
          </a:p>
          <a:p>
            <a:pPr lvl="1"/>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）黑盒测试。即在不知道程序内部构造也不知道程序是怎样工作的情况下测试程序。换言之，程序就像看不见内部的黑盒。</a:t>
            </a:r>
          </a:p>
          <a:p>
            <a:pPr lvl="1"/>
            <a:r>
              <a:rPr lang="zh-CN" altLang="en-US" sz="2200" b="1" dirty="0">
                <a:solidFill>
                  <a:schemeClr val="tx1"/>
                </a:solidFill>
                <a:effectLst>
                  <a:outerShdw blurRad="38100" dist="38100" dir="2700000" algn="tl">
                    <a:srgbClr val="000000">
                      <a:alpha val="43137"/>
                    </a:srgbClr>
                  </a:outerShdw>
                </a:effectLst>
              </a:rPr>
              <a:t>简单地说，黑盒测试计划是从需求说明发展起来的。这就是为什么有一组好的需求如此重要的原因之一。测试工程师通过利用这些需求和他的系统开发知识以及用户的工作环境来产生测试计划。这个计划主要用于系统的整体测试。编写程序之前，应当查看和了解这些测试计划</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0376662"/>
      </p:ext>
    </p:extLst>
  </p:cSld>
  <p:clrMapOvr>
    <a:masterClrMapping/>
  </p:clrMapOvr>
  <p:transition spd="slow">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13.3.4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测试阶段</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）白盒测试。与黑盒测试假设对程序代码的一无所知相反，白盒测试假定你知道有关程序的一切。在这种情况下，程序就像玻璃房子，其中的一切都是可见的。</a:t>
            </a:r>
          </a:p>
          <a:p>
            <a:pPr lvl="1"/>
            <a:r>
              <a:rPr lang="zh-CN" altLang="en-US" sz="2200" b="1" dirty="0">
                <a:solidFill>
                  <a:schemeClr val="tx1"/>
                </a:solidFill>
                <a:effectLst>
                  <a:outerShdw blurRad="38100" dist="38100" dir="2700000" algn="tl">
                    <a:srgbClr val="000000">
                      <a:alpha val="43137"/>
                    </a:srgbClr>
                  </a:outerShdw>
                </a:effectLst>
              </a:rPr>
              <a:t>白盒测试主要是程序员的责任，他们准确地知道程序内部发生了什么。必须确保每一条指令和每一种可能情况都已经被测试过。这不是一个简单的工作。</a:t>
            </a:r>
          </a:p>
          <a:p>
            <a:r>
              <a:rPr lang="zh-CN" altLang="en-US" sz="2400" b="1" dirty="0">
                <a:solidFill>
                  <a:schemeClr val="tx1"/>
                </a:solidFill>
                <a:effectLst>
                  <a:outerShdw blurRad="38100" dist="38100" dir="2700000" algn="tl">
                    <a:srgbClr val="000000">
                      <a:alpha val="43137"/>
                    </a:srgbClr>
                  </a:outerShdw>
                </a:effectLst>
              </a:rPr>
              <a:t>经验将帮助程序员设计好的测试数据，但是，程序员从一开始就能做的事是养成撰写测试计划的习惯，还在设计阶段时就应该开始编制测试计划</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88210025"/>
      </p:ext>
    </p:extLst>
  </p:cSld>
  <p:clrMapOvr>
    <a:masterClrMapping/>
  </p:clrMapOvr>
  <p:transition spd="slow">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模块化</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模块化</a:t>
            </a:r>
            <a:r>
              <a:rPr lang="zh-CN" altLang="en-US" sz="2400" b="1" dirty="0">
                <a:solidFill>
                  <a:schemeClr val="tx1"/>
                </a:solidFill>
                <a:effectLst>
                  <a:outerShdw blurRad="38100" dist="38100" dir="2700000" algn="tl">
                    <a:srgbClr val="000000">
                      <a:alpha val="43137"/>
                    </a:srgbClr>
                  </a:outerShdw>
                </a:effectLst>
              </a:rPr>
              <a:t>意味着将大项目分解成较小的部分，以便能够容易理解和处理。换言之，模块化意味着将大程序分解成能互相通讯的小程序。</a:t>
            </a:r>
          </a:p>
          <a:p>
            <a:r>
              <a:rPr lang="zh-CN" altLang="en-US" sz="2400" b="1" dirty="0">
                <a:solidFill>
                  <a:schemeClr val="tx1"/>
                </a:solidFill>
                <a:effectLst>
                  <a:outerShdw blurRad="38100" dist="38100" dir="2700000" algn="tl">
                    <a:srgbClr val="000000">
                      <a:alpha val="43137"/>
                    </a:srgbClr>
                  </a:outerShdw>
                </a:effectLst>
              </a:rPr>
              <a:t>有两种工具可以用于在程序设计中实现模块化，即模块结构图（</a:t>
            </a:r>
            <a:r>
              <a:rPr lang="en-US" altLang="zh-CN" sz="2400" b="1" dirty="0">
                <a:solidFill>
                  <a:schemeClr val="tx1"/>
                </a:solidFill>
                <a:effectLst>
                  <a:outerShdw blurRad="38100" dist="38100" dir="2700000" algn="tl">
                    <a:srgbClr val="000000">
                      <a:alpha val="43137"/>
                    </a:srgbClr>
                  </a:outerShdw>
                </a:effectLst>
              </a:rPr>
              <a:t>SC</a:t>
            </a:r>
            <a:r>
              <a:rPr lang="zh-CN" altLang="en-US" sz="2400" b="1" dirty="0">
                <a:solidFill>
                  <a:schemeClr val="tx1"/>
                </a:solidFill>
                <a:effectLst>
                  <a:outerShdw blurRad="38100" dist="38100" dir="2700000" algn="tl">
                    <a:srgbClr val="000000">
                      <a:alpha val="43137"/>
                    </a:srgbClr>
                  </a:outerShdw>
                </a:effectLst>
              </a:rPr>
              <a:t>）或类图。模块结构图用于过程化编程以显示过程或函数之间的关系；类图用于面向对象编程以显示类之间的关系，统一建模语言（</a:t>
            </a:r>
            <a:r>
              <a:rPr lang="en-US" altLang="zh-CN" sz="2400" b="1" dirty="0">
                <a:solidFill>
                  <a:schemeClr val="tx1"/>
                </a:solidFill>
                <a:effectLst>
                  <a:outerShdw blurRad="38100" dist="38100" dir="2700000" algn="tl">
                    <a:srgbClr val="000000">
                      <a:alpha val="43137"/>
                    </a:srgbClr>
                  </a:outerShdw>
                </a:effectLst>
              </a:rPr>
              <a:t>UML</a:t>
            </a:r>
            <a:r>
              <a:rPr lang="zh-CN" altLang="en-US" sz="2400" b="1" dirty="0">
                <a:solidFill>
                  <a:schemeClr val="tx1"/>
                </a:solidFill>
                <a:effectLst>
                  <a:outerShdw blurRad="38100" dist="38100" dir="2700000" algn="tl">
                    <a:srgbClr val="000000">
                      <a:alpha val="43137"/>
                    </a:srgbClr>
                  </a:outerShdw>
                </a:effectLst>
              </a:rPr>
              <a:t>）作为一个标准，包括了有助于这方面的工具和图</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9516613"/>
      </p:ext>
    </p:extLst>
  </p:cSld>
  <p:clrMapOvr>
    <a:masterClrMapping/>
  </p:clrMapOvr>
  <p:transition spd="slow">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耦合</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耦合</a:t>
            </a:r>
            <a:r>
              <a:rPr lang="zh-CN" altLang="en-US" sz="2400" b="1" dirty="0">
                <a:solidFill>
                  <a:schemeClr val="tx1"/>
                </a:solidFill>
                <a:effectLst>
                  <a:outerShdw blurRad="38100" dist="38100" dir="2700000" algn="tl">
                    <a:srgbClr val="000000">
                      <a:alpha val="43137"/>
                    </a:srgbClr>
                  </a:outerShdw>
                </a:effectLst>
              </a:rPr>
              <a:t>是对两个模块互相绑定紧密程度的度量。越紧耦合的模块，它们的独立性越差。耦合的类型主要有如下几种。</a:t>
            </a:r>
          </a:p>
          <a:p>
            <a:pPr lvl="1">
              <a:spcBef>
                <a:spcPts val="600"/>
              </a:spcBef>
              <a:spcAft>
                <a:spcPts val="0"/>
              </a:spcAft>
            </a:pPr>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）数据耦合。只从调用函数向被调用函数传递最少的需求数据。所有需求数据作为参数传递，没有额外的数据传递。这是耦合的最佳形式，应该尽可能地使用。</a:t>
            </a:r>
          </a:p>
          <a:p>
            <a:pPr lvl="1">
              <a:spcBef>
                <a:spcPts val="600"/>
              </a:spcBef>
              <a:spcAft>
                <a:spcPts val="0"/>
              </a:spcAft>
            </a:pPr>
            <a:r>
              <a:rPr lang="en-US" altLang="zh-CN" sz="2200" b="1" dirty="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）控制耦合。传递的是标记，它可用于指示函数的逻辑流程，它与数据耦合极为相似，不同之处仅在于前者传递的是标记，后者传递的是数据。</a:t>
            </a:r>
          </a:p>
          <a:p>
            <a:pPr lvl="1">
              <a:spcBef>
                <a:spcPts val="600"/>
              </a:spcBef>
              <a:spcAft>
                <a:spcPts val="0"/>
              </a:spcAft>
            </a:pPr>
            <a:r>
              <a:rPr lang="zh-CN" altLang="en-US" sz="2200" b="1" dirty="0">
                <a:solidFill>
                  <a:schemeClr val="tx1"/>
                </a:solidFill>
                <a:effectLst>
                  <a:outerShdw blurRad="38100" dist="38100" dir="2700000" algn="tl">
                    <a:srgbClr val="000000">
                      <a:alpha val="43137"/>
                    </a:srgbClr>
                  </a:outerShdw>
                </a:effectLst>
              </a:rPr>
              <a:t>如果使用得当，控制耦合是两个函数之间通讯所必需的和有效的方法，它传递状态，如到达文件尾部、找到查询的值等。糟糕的标记使用通常是糟糕的程序设计的一种标志，比如一个处理过程在两个或更多的独立函数之间分开等</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0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6312085"/>
      </p:ext>
    </p:extLst>
  </p:cSld>
  <p:clrMapOvr>
    <a:masterClrMapping/>
  </p:clrMapOvr>
  <p:transition spd="slow">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耦合</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3</a:t>
            </a:r>
            <a:r>
              <a:rPr lang="zh-CN" altLang="en-US" sz="2200" b="1" dirty="0">
                <a:solidFill>
                  <a:schemeClr val="tx1"/>
                </a:solidFill>
                <a:effectLst>
                  <a:outerShdw blurRad="38100" dist="38100" dir="2700000" algn="tl">
                    <a:srgbClr val="000000">
                      <a:alpha val="43137"/>
                    </a:srgbClr>
                  </a:outerShdw>
                </a:effectLst>
              </a:rPr>
              <a:t>）公共耦合。又称全局耦合，是用全局变量来进行两个或更多函数之间的通讯，这不是一个好的耦合技术。实际上，应该避免使用它。例如，全局耦合实际上不可能决定哪些模块正在互相通讯。当一个程序需要改动时，它无法评估和隔离这种变化造成的影响。这常常导致没改动的函数突然失效。其次，全局耦合紧密地把函数绑定在程序上，这意味着它很难移植到另一个程序中。</a:t>
            </a:r>
          </a:p>
          <a:p>
            <a:pPr lvl="1"/>
            <a:r>
              <a:rPr lang="en-US" altLang="zh-CN" sz="2200" b="1" dirty="0">
                <a:solidFill>
                  <a:schemeClr val="tx1"/>
                </a:solidFill>
                <a:effectLst>
                  <a:outerShdw blurRad="38100" dist="38100" dir="2700000" algn="tl">
                    <a:srgbClr val="000000">
                      <a:alpha val="43137"/>
                    </a:srgbClr>
                  </a:outerShdw>
                </a:effectLst>
              </a:rPr>
              <a:t>4</a:t>
            </a:r>
            <a:r>
              <a:rPr lang="zh-CN" altLang="en-US" sz="2200" b="1" dirty="0">
                <a:solidFill>
                  <a:schemeClr val="tx1"/>
                </a:solidFill>
                <a:effectLst>
                  <a:outerShdw blurRad="38100" dist="38100" dir="2700000" algn="tl">
                    <a:srgbClr val="000000">
                      <a:alpha val="43137"/>
                    </a:srgbClr>
                  </a:outerShdw>
                </a:effectLst>
              </a:rPr>
              <a:t>）内容耦合。是在一个函数直接引用另一个函数的数据或语句时产生的耦合。显然，这种观念打破了结构化编程的宗旨，引用另一个函数的数据要求该数据在函数的外部可见</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0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90718625"/>
      </p:ext>
    </p:extLst>
  </p:cSld>
  <p:clrMapOvr>
    <a:masterClrMapping/>
  </p:clrMapOvr>
  <p:transition spd="slow">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内聚</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模块化</a:t>
            </a:r>
            <a:r>
              <a:rPr lang="zh-CN" altLang="en-US" sz="2400" b="1" dirty="0">
                <a:solidFill>
                  <a:schemeClr val="tx1"/>
                </a:solidFill>
                <a:effectLst>
                  <a:outerShdw blurRad="38100" dist="38100" dir="2700000" algn="tl">
                    <a:srgbClr val="000000">
                      <a:alpha val="43137"/>
                    </a:srgbClr>
                  </a:outerShdw>
                </a:effectLst>
              </a:rPr>
              <a:t>的另一个问题是内聚，内聚是程序中处理过程相关紧密程度的度量。内聚的级别有多种。</a:t>
            </a:r>
          </a:p>
          <a:p>
            <a:pPr lvl="1">
              <a:spcBef>
                <a:spcPts val="600"/>
              </a:spcBef>
              <a:spcAft>
                <a:spcPts val="0"/>
              </a:spcAft>
            </a:pPr>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）功能内聚。带有功能内聚的模块仅仅包含一个处理过程，这是最高级别的内聚，并且这是应该尽力实现的级别。</a:t>
            </a:r>
          </a:p>
          <a:p>
            <a:pPr lvl="1">
              <a:spcBef>
                <a:spcPts val="600"/>
              </a:spcBef>
              <a:spcAft>
                <a:spcPts val="0"/>
              </a:spcAft>
            </a:pPr>
            <a:r>
              <a:rPr lang="zh-CN" altLang="en-US" sz="2200" b="1" dirty="0">
                <a:solidFill>
                  <a:schemeClr val="tx1"/>
                </a:solidFill>
                <a:effectLst>
                  <a:outerShdw blurRad="38100" dist="38100" dir="2700000" algn="tl">
                    <a:srgbClr val="000000">
                      <a:alpha val="43137"/>
                    </a:srgbClr>
                  </a:outerShdw>
                </a:effectLst>
              </a:rPr>
              <a:t>只做一件事：每个函数应该只做一件事，而且函数中的所有语句应该仅为这件事服务。</a:t>
            </a:r>
          </a:p>
          <a:p>
            <a:pPr lvl="1">
              <a:spcBef>
                <a:spcPts val="600"/>
              </a:spcBef>
              <a:spcAft>
                <a:spcPts val="0"/>
              </a:spcAft>
            </a:pPr>
            <a:r>
              <a:rPr lang="zh-CN" altLang="en-US" sz="2200" b="1" dirty="0">
                <a:solidFill>
                  <a:schemeClr val="tx1"/>
                </a:solidFill>
                <a:effectLst>
                  <a:outerShdw blurRad="38100" dist="38100" dir="2700000" algn="tl">
                    <a:srgbClr val="000000">
                      <a:alpha val="43137"/>
                    </a:srgbClr>
                  </a:outerShdw>
                </a:effectLst>
              </a:rPr>
              <a:t>在一个位置：一个函数应该只在一个地方做一件事。如果一个处理过程的代码散落在程序中多个不同的无关的部分，那么它将很难改动。所以，一个任务的所有处理过程应该放在一个函数中，如果需要也可以放在其子函数中</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4273114"/>
      </p:ext>
    </p:extLst>
  </p:cSld>
  <p:clrMapOvr>
    <a:masterClrMapping/>
  </p:clrMapOvr>
  <p:transition spd="slow">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内聚</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）顺序内聚。带有顺序内聚的模块包含两个或更多紧密联系在一起的相关任务，通常一个流程的输出作为另一个的输入。</a:t>
            </a:r>
          </a:p>
          <a:p>
            <a:pPr lvl="1"/>
            <a:r>
              <a:rPr lang="en-US" altLang="zh-CN" sz="2200" b="1" dirty="0">
                <a:solidFill>
                  <a:schemeClr val="tx1"/>
                </a:solidFill>
                <a:effectLst>
                  <a:outerShdw blurRad="38100" dist="38100" dir="2700000" algn="tl">
                    <a:srgbClr val="000000">
                      <a:alpha val="43137"/>
                    </a:srgbClr>
                  </a:outerShdw>
                </a:effectLst>
              </a:rPr>
              <a:t>3</a:t>
            </a:r>
            <a:r>
              <a:rPr lang="zh-CN" altLang="en-US" sz="2200" b="1" dirty="0">
                <a:solidFill>
                  <a:schemeClr val="tx1"/>
                </a:solidFill>
                <a:effectLst>
                  <a:outerShdw blurRad="38100" dist="38100" dir="2700000" algn="tl">
                    <a:srgbClr val="000000">
                      <a:alpha val="43137"/>
                    </a:srgbClr>
                  </a:outerShdw>
                </a:effectLst>
              </a:rPr>
              <a:t>）通信内聚。将使用同一数据的处理过程合并。在程序的较高级别模块中使用通信内聚是很自然的，但是基本的级别中将不会发现通信内聚。例如，考虑一个读入库存文件的函数，它打印当前零部件的状态，接着检查是否有需要订购的零部件。</a:t>
            </a:r>
          </a:p>
          <a:p>
            <a:pPr lvl="1"/>
            <a:r>
              <a:rPr lang="zh-CN" altLang="en-US" sz="2200" b="1" dirty="0">
                <a:solidFill>
                  <a:schemeClr val="tx1"/>
                </a:solidFill>
                <a:effectLst>
                  <a:outerShdw blurRad="38100" dist="38100" dir="2700000" algn="tl">
                    <a:srgbClr val="000000">
                      <a:alpha val="43137"/>
                    </a:srgbClr>
                  </a:outerShdw>
                </a:effectLst>
              </a:rPr>
              <a:t>前三个级别的内聚被认为是良好的结构化编程原则。一旦逾越这个观点，易于理解和实现、可维修性及准确性就开始急剧滑落。下几个级别的内聚仅被用于结构图中的更高级别</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7674542"/>
      </p:ext>
    </p:extLst>
  </p:cSld>
  <p:clrMapOvr>
    <a:masterClrMapping/>
  </p:clrMapOvr>
  <p:transition spd="slow">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内聚</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4</a:t>
            </a:r>
            <a:r>
              <a:rPr lang="zh-CN" altLang="en-US" sz="2200" b="1" dirty="0">
                <a:solidFill>
                  <a:schemeClr val="tx1"/>
                </a:solidFill>
                <a:effectLst>
                  <a:outerShdw blurRad="38100" dist="38100" dir="2700000" algn="tl">
                    <a:srgbClr val="000000">
                      <a:alpha val="43137"/>
                    </a:srgbClr>
                  </a:outerShdw>
                </a:effectLst>
              </a:rPr>
              <a:t>）过程内聚。合并由控制流程连接的不相关的处理过程（它不同于顺序内聚，顺序内聚是数据流从一个过程到另一个过程）。</a:t>
            </a:r>
          </a:p>
          <a:p>
            <a:pPr lvl="1"/>
            <a:r>
              <a:rPr lang="en-US" altLang="zh-CN" sz="2200" b="1" dirty="0">
                <a:solidFill>
                  <a:schemeClr val="tx1"/>
                </a:solidFill>
                <a:effectLst>
                  <a:outerShdw blurRad="38100" dist="38100" dir="2700000" algn="tl">
                    <a:srgbClr val="000000">
                      <a:alpha val="43137"/>
                    </a:srgbClr>
                  </a:outerShdw>
                </a:effectLst>
              </a:rPr>
              <a:t>5</a:t>
            </a:r>
            <a:r>
              <a:rPr lang="zh-CN" altLang="en-US" sz="2200" b="1" dirty="0">
                <a:solidFill>
                  <a:schemeClr val="tx1"/>
                </a:solidFill>
                <a:effectLst>
                  <a:outerShdw blurRad="38100" dist="38100" dir="2700000" algn="tl">
                    <a:srgbClr val="000000">
                      <a:alpha val="43137"/>
                    </a:srgbClr>
                  </a:outerShdw>
                </a:effectLst>
              </a:rPr>
              <a:t>）时间内聚。仅仅在超过处理过程的限定范围时才被接受。它合并了那些总是一起发生但并不相关的处理过程。两个瞬时内聚的函数是工作的初始化和结尾。因为它们在程序中仅仅使用一次且从来不可移植。但是，无论何时使用，它仍然应该包含对功能内聚的原始函数的调用</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37648049"/>
      </p:ext>
    </p:extLst>
  </p:cSld>
  <p:clrMapOvr>
    <a:masterClrMapping/>
  </p:clrMapOvr>
  <p:transition spd="slow">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13.4.2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内聚</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6</a:t>
            </a:r>
            <a:r>
              <a:rPr lang="zh-CN" altLang="en-US" sz="2200" b="1" dirty="0">
                <a:solidFill>
                  <a:schemeClr val="tx1"/>
                </a:solidFill>
                <a:effectLst>
                  <a:outerShdw blurRad="38100" dist="38100" dir="2700000" algn="tl">
                    <a:srgbClr val="000000">
                      <a:alpha val="43137"/>
                    </a:srgbClr>
                  </a:outerShdw>
                </a:effectLst>
              </a:rPr>
              <a:t>）逻辑内聚和偶然内聚。这在如今的程序中是少见的。逻辑内聚合并了由控制它们的实体所关联的处理过程。一个函数基于作为参数传递的标记，有条件地打开不同的文件集，这可能就是逻辑内聚。最后，偶然内聚合并了无关的处理过程，一般仅在理论上存在</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1060157"/>
      </p:ext>
    </p:extLst>
  </p:cSld>
  <p:clrMapOvr>
    <a:masterClrMapping/>
  </p:clrMapOvr>
  <p:transition spd="slow">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软件质量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软件质量</a:t>
            </a:r>
            <a:r>
              <a:rPr lang="zh-CN" altLang="en-US" sz="2400" b="1" dirty="0">
                <a:solidFill>
                  <a:schemeClr val="tx1"/>
                </a:solidFill>
                <a:effectLst>
                  <a:outerShdw blurRad="38100" dist="38100" dir="2700000" algn="tl">
                    <a:srgbClr val="000000">
                      <a:alpha val="43137"/>
                    </a:srgbClr>
                  </a:outerShdw>
                </a:effectLst>
              </a:rPr>
              <a:t>是“软件产品具有满足规定或隐含要求的与能力要求有关的特性与特性总和”。软件质量的评估通常从对软件质量框架的分析开始。</a:t>
            </a:r>
          </a:p>
          <a:p>
            <a:r>
              <a:rPr lang="zh-CN" altLang="en-US" sz="2400" b="1" dirty="0">
                <a:solidFill>
                  <a:schemeClr val="tx1"/>
                </a:solidFill>
                <a:effectLst>
                  <a:outerShdw blurRad="38100" dist="38100" dir="2700000" algn="tl">
                    <a:srgbClr val="000000">
                      <a:alpha val="43137"/>
                    </a:srgbClr>
                  </a:outerShdw>
                </a:effectLst>
              </a:rPr>
              <a:t>软件质量是计算机软件的所有内在属性的组合，它历来是软件开发中的关键问题，也是软件生产中的核心问题。并且，软件质量包括程序、数据和文件等多方面的质量。随着计算机日益广泛地应用于各行各业，软件质量将直接影响到计算机应用的深度和广度。因此，如何科学地对软件进行评价、测试和鉴定，对促进软件质量的提高，加速软件产业化、商品化进程具有重要的意义</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8657060"/>
      </p:ext>
    </p:extLst>
  </p:cSld>
  <p:clrMapOvr>
    <a:masterClrMapping/>
  </p:clrMapOvr>
  <p:transition spd="slow">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软件质量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关于软件质量的讨论过程中，应该遵循以下三条原则。</a:t>
            </a:r>
          </a:p>
          <a:p>
            <a:pPr lvl="1"/>
            <a:r>
              <a:rPr lang="en-US" altLang="zh-CN" sz="2200" b="1" dirty="0">
                <a:solidFill>
                  <a:schemeClr val="tx1"/>
                </a:solidFill>
                <a:effectLst>
                  <a:outerShdw blurRad="38100" dist="38100" dir="2700000" algn="tl">
                    <a:srgbClr val="000000">
                      <a:alpha val="43137"/>
                    </a:srgbClr>
                  </a:outerShdw>
                </a:effectLst>
              </a:rPr>
              <a:t>1</a:t>
            </a:r>
            <a:r>
              <a:rPr lang="zh-CN" altLang="en-US" sz="2200" b="1" dirty="0">
                <a:solidFill>
                  <a:schemeClr val="tx1"/>
                </a:solidFill>
                <a:effectLst>
                  <a:outerShdw blurRad="38100" dist="38100" dir="2700000" algn="tl">
                    <a:srgbClr val="000000">
                      <a:alpha val="43137"/>
                    </a:srgbClr>
                  </a:outerShdw>
                </a:effectLst>
              </a:rPr>
              <a:t>）应强调软件的总体质量，不应该片面强调软件的正确性，而忽略其可维护性与可靠性，或忽略其易用性与效率等。</a:t>
            </a:r>
          </a:p>
          <a:p>
            <a:pPr lvl="1"/>
            <a:r>
              <a:rPr lang="en-US" altLang="zh-CN" sz="2200" b="1" dirty="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）应在软件生产的整个过程中都注意软件的质量，而不能只注意软件最终成品的质量。</a:t>
            </a:r>
          </a:p>
          <a:p>
            <a:pPr lvl="1"/>
            <a:r>
              <a:rPr lang="en-US" altLang="zh-CN" sz="2200" b="1" dirty="0">
                <a:solidFill>
                  <a:schemeClr val="tx1"/>
                </a:solidFill>
                <a:effectLst>
                  <a:outerShdw blurRad="38100" dist="38100" dir="2700000" algn="tl">
                    <a:srgbClr val="000000">
                      <a:alpha val="43137"/>
                    </a:srgbClr>
                  </a:outerShdw>
                </a:effectLst>
              </a:rPr>
              <a:t>3</a:t>
            </a:r>
            <a:r>
              <a:rPr lang="zh-CN" altLang="en-US" sz="2200" b="1" dirty="0">
                <a:solidFill>
                  <a:schemeClr val="tx1"/>
                </a:solidFill>
                <a:effectLst>
                  <a:outerShdw blurRad="38100" dist="38100" dir="2700000" algn="tl">
                    <a:srgbClr val="000000">
                      <a:alpha val="43137"/>
                    </a:srgbClr>
                  </a:outerShdw>
                </a:effectLst>
              </a:rPr>
              <a:t>）应定量地测量软件的质量，而不能仅仅定性地评价软件的质量，软件产品评价应逐步走上评测结合、以测试为主的科学轨道</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13487691"/>
      </p:ext>
    </p:extLst>
  </p:cSld>
  <p:clrMapOvr>
    <a:masterClrMapping/>
  </p:clrMapOvr>
  <p:transition spd="slow">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软件质量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软件质量</a:t>
            </a:r>
            <a:r>
              <a:rPr lang="zh-CN" altLang="en-US" sz="2400" b="1" dirty="0">
                <a:solidFill>
                  <a:schemeClr val="tx1"/>
                </a:solidFill>
                <a:effectLst>
                  <a:outerShdw blurRad="38100" dist="38100" dir="2700000" algn="tl">
                    <a:srgbClr val="000000">
                      <a:alpha val="43137"/>
                    </a:srgbClr>
                  </a:outerShdw>
                </a:effectLst>
              </a:rPr>
              <a:t>能够划分成三个广义的度量：可操作性、可维护性和可移植性，如图</a:t>
            </a:r>
            <a:r>
              <a:rPr lang="en-US" altLang="zh-CN" sz="2400" b="1" dirty="0">
                <a:solidFill>
                  <a:schemeClr val="tx1"/>
                </a:solidFill>
                <a:effectLst>
                  <a:outerShdw blurRad="38100" dist="38100" dir="2700000" algn="tl">
                    <a:srgbClr val="000000">
                      <a:alpha val="43137"/>
                    </a:srgbClr>
                  </a:outerShdw>
                </a:effectLst>
              </a:rPr>
              <a:t>13-2</a:t>
            </a:r>
            <a:r>
              <a:rPr lang="zh-CN" altLang="en-US" sz="2400" b="1" dirty="0">
                <a:solidFill>
                  <a:schemeClr val="tx1"/>
                </a:solidFill>
                <a:effectLst>
                  <a:outerShdw blurRad="38100" dist="38100" dir="2700000" algn="tl">
                    <a:srgbClr val="000000">
                      <a:alpha val="43137"/>
                    </a:srgbClr>
                  </a:outerShdw>
                </a:effectLst>
              </a:rPr>
              <a:t>所示</a:t>
            </a:r>
            <a:r>
              <a:rPr lang="zh-CN" altLang="en-US" sz="2400" b="1" dirty="0" smtClean="0">
                <a:solidFill>
                  <a:schemeClr val="tx1"/>
                </a:solidFill>
                <a:effectLst>
                  <a:outerShdw blurRad="38100" dist="38100" dir="2700000" algn="tl">
                    <a:srgbClr val="000000">
                      <a:alpha val="43137"/>
                    </a:srgbClr>
                  </a:outerShdw>
                </a:effectLst>
              </a:rPr>
              <a:t>。</a:t>
            </a:r>
          </a:p>
          <a:p>
            <a:pPr lvl="1"/>
            <a:r>
              <a:rPr lang="en-US" altLang="zh-CN" sz="2200" b="1" dirty="0" smtClean="0">
                <a:solidFill>
                  <a:schemeClr val="tx1"/>
                </a:solidFill>
                <a:effectLst>
                  <a:outerShdw blurRad="38100" dist="38100" dir="2700000" algn="tl">
                    <a:srgbClr val="000000">
                      <a:alpha val="43137"/>
                    </a:srgbClr>
                  </a:outerShdw>
                </a:effectLst>
              </a:rPr>
              <a:t>1</a:t>
            </a:r>
            <a:r>
              <a:rPr lang="zh-CN" altLang="en-US" sz="2200" b="1" dirty="0" smtClean="0">
                <a:solidFill>
                  <a:schemeClr val="tx1"/>
                </a:solidFill>
                <a:effectLst>
                  <a:outerShdw blurRad="38100" dist="38100" dir="2700000" algn="tl">
                    <a:srgbClr val="000000">
                      <a:alpha val="43137"/>
                    </a:srgbClr>
                  </a:outerShdw>
                </a:effectLst>
              </a:rPr>
              <a:t>）可操作性。涉及到系统的基本操作。用户对系统的第一印象通常是该系统看上去和感觉上怎样。特别是对在线的交互式系统，这意味着使用起来有多容易和多直观？它是否很好地适应其运行所依赖的操作系统？例如，如果运行在</a:t>
            </a:r>
            <a:r>
              <a:rPr lang="en-US" altLang="zh-CN" sz="2200" b="1" dirty="0" smtClean="0">
                <a:solidFill>
                  <a:schemeClr val="tx1"/>
                </a:solidFill>
                <a:effectLst>
                  <a:outerShdw blurRad="38100" dist="38100" dir="2700000" algn="tl">
                    <a:srgbClr val="000000">
                      <a:alpha val="43137"/>
                    </a:srgbClr>
                  </a:outerShdw>
                </a:effectLst>
              </a:rPr>
              <a:t>Windows</a:t>
            </a:r>
            <a:r>
              <a:rPr lang="zh-CN" altLang="en-US" sz="2200" b="1" dirty="0" smtClean="0">
                <a:solidFill>
                  <a:schemeClr val="tx1"/>
                </a:solidFill>
                <a:effectLst>
                  <a:outerShdw blurRad="38100" dist="38100" dir="2700000" algn="tl">
                    <a:srgbClr val="000000">
                      <a:alpha val="43137"/>
                    </a:srgbClr>
                  </a:outerShdw>
                </a:effectLst>
              </a:rPr>
              <a:t>环境中，它的下拉和弹出菜单应该与其操作系统的菜单工作方式一致。组成可操作性的因素主要有：准确性、效率、可靠性、安全性、及时和适用性等。</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54521161"/>
      </p:ext>
    </p:extLst>
  </p:cSld>
  <p:clrMapOvr>
    <a:masterClrMapping/>
  </p:clrMapOvr>
  <p:transition spd="slow">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软件质量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lvl="1"/>
            <a:r>
              <a:rPr lang="en-US" altLang="zh-CN" sz="2200" b="1" dirty="0" smtClean="0">
                <a:solidFill>
                  <a:schemeClr val="tx1"/>
                </a:solidFill>
                <a:effectLst>
                  <a:outerShdw blurRad="38100" dist="38100" dir="2700000" algn="tl">
                    <a:srgbClr val="000000">
                      <a:alpha val="43137"/>
                    </a:srgbClr>
                  </a:outerShdw>
                </a:effectLst>
              </a:rPr>
              <a:t>2</a:t>
            </a:r>
            <a:r>
              <a:rPr lang="zh-CN" altLang="en-US" sz="2200" b="1" dirty="0">
                <a:solidFill>
                  <a:schemeClr val="tx1"/>
                </a:solidFill>
                <a:effectLst>
                  <a:outerShdw blurRad="38100" dist="38100" dir="2700000" algn="tl">
                    <a:srgbClr val="000000">
                      <a:alpha val="43137"/>
                    </a:srgbClr>
                  </a:outerShdw>
                </a:effectLst>
              </a:rPr>
              <a:t>）可维护性。以保持系统正常运行并及时更新为参照。很多系统经常需要改变，这不是因为它们实现得不好而是因为外部因素的改变。可维护性包括：可变性、可修正性、灵活性和可测试性等。</a:t>
            </a:r>
          </a:p>
          <a:p>
            <a:pPr lvl="1"/>
            <a:r>
              <a:rPr lang="en-US" altLang="zh-CN" sz="2200" b="1" dirty="0" smtClean="0">
                <a:solidFill>
                  <a:schemeClr val="tx1"/>
                </a:solidFill>
                <a:effectLst>
                  <a:outerShdw blurRad="38100" dist="38100" dir="2700000" algn="tl">
                    <a:srgbClr val="000000">
                      <a:alpha val="43137"/>
                    </a:srgbClr>
                  </a:outerShdw>
                </a:effectLst>
              </a:rPr>
              <a:t>3</a:t>
            </a:r>
            <a:r>
              <a:rPr lang="zh-CN" altLang="en-US" sz="2200" b="1" dirty="0">
                <a:solidFill>
                  <a:schemeClr val="tx1"/>
                </a:solidFill>
                <a:effectLst>
                  <a:outerShdw blurRad="38100" dist="38100" dir="2700000" algn="tl">
                    <a:srgbClr val="000000">
                      <a:alpha val="43137"/>
                    </a:srgbClr>
                  </a:outerShdw>
                </a:effectLst>
              </a:rPr>
              <a:t>）可迁移性。是指把数据和</a:t>
            </a:r>
            <a:r>
              <a:rPr lang="en-US" altLang="zh-CN" sz="2200" b="1" dirty="0">
                <a:solidFill>
                  <a:schemeClr val="tx1"/>
                </a:solidFill>
                <a:effectLst>
                  <a:outerShdw blurRad="38100" dist="38100" dir="2700000" algn="tl">
                    <a:srgbClr val="000000">
                      <a:alpha val="43137"/>
                    </a:srgbClr>
                  </a:outerShdw>
                </a:effectLst>
              </a:rPr>
              <a:t>/</a:t>
            </a:r>
            <a:r>
              <a:rPr lang="zh-CN" altLang="en-US" sz="2200" b="1" dirty="0">
                <a:solidFill>
                  <a:schemeClr val="tx1"/>
                </a:solidFill>
                <a:effectLst>
                  <a:outerShdw blurRad="38100" dist="38100" dir="2700000" algn="tl">
                    <a:srgbClr val="000000">
                      <a:alpha val="43137"/>
                    </a:srgbClr>
                  </a:outerShdw>
                </a:effectLst>
              </a:rPr>
              <a:t>或系统从一个平台迁移到另一个平台并重用代码的能力。在很多情况下，这不是一个重要的因素。但如果你编写的是具用通用性的软件，那么可迁移性就很关键了。可迁移性包括：代码可重用性、互操作性和可移植性等</a:t>
            </a:r>
            <a:r>
              <a:rPr lang="zh-CN" altLang="en-US" sz="2200" b="1" dirty="0" smtClean="0">
                <a:solidFill>
                  <a:schemeClr val="tx1"/>
                </a:solidFill>
                <a:effectLst>
                  <a:outerShdw blurRad="38100" dist="38100" dir="2700000" algn="tl">
                    <a:srgbClr val="000000">
                      <a:alpha val="43137"/>
                    </a:srgbClr>
                  </a:outerShdw>
                </a:effectLst>
              </a:rPr>
              <a:t>。</a:t>
            </a:r>
            <a:endParaRPr lang="zh-CN" altLang="en-US" sz="22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11894133"/>
      </p:ext>
    </p:extLst>
  </p:cSld>
  <p:clrMapOvr>
    <a:masterClrMapping/>
  </p:clrMapOvr>
  <p:transition spd="slow">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软件质量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6001556"/>
            <a:ext cx="11140224" cy="580922"/>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13-2  </a:t>
            </a:r>
            <a:r>
              <a:rPr lang="zh-CN" altLang="en-US" sz="2000" b="1" dirty="0">
                <a:solidFill>
                  <a:schemeClr val="tx1"/>
                </a:solidFill>
                <a:effectLst>
                  <a:outerShdw blurRad="38100" dist="38100" dir="2700000" algn="tl">
                    <a:srgbClr val="000000">
                      <a:alpha val="43137"/>
                    </a:srgbClr>
                  </a:outerShdw>
                </a:effectLst>
              </a:rPr>
              <a:t>软件质量</a:t>
            </a:r>
            <a:r>
              <a:rPr lang="zh-CN" altLang="en-US" sz="2000" b="1" dirty="0" smtClean="0">
                <a:solidFill>
                  <a:schemeClr val="tx1"/>
                </a:solidFill>
                <a:effectLst>
                  <a:outerShdw blurRad="38100" dist="38100" dir="2700000" algn="tl">
                    <a:srgbClr val="000000">
                      <a:alpha val="43137"/>
                    </a:srgbClr>
                  </a:outerShdw>
                </a:effectLst>
              </a:rPr>
              <a:t>因素</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84434982"/>
              </p:ext>
            </p:extLst>
          </p:nvPr>
        </p:nvGraphicFramePr>
        <p:xfrm>
          <a:off x="2112138" y="1747301"/>
          <a:ext cx="7083380" cy="4835177"/>
        </p:xfrm>
        <a:graphic>
          <a:graphicData uri="http://schemas.openxmlformats.org/presentationml/2006/ole">
            <mc:AlternateContent xmlns:mc="http://schemas.openxmlformats.org/markup-compatibility/2006">
              <mc:Choice xmlns:v="urn:schemas-microsoft-com:vml" Requires="v">
                <p:oleObj spid="_x0000_s2054" name="Visio" r:id="rId4" imgW="2735946" imgH="1868475" progId="Visio.Drawing.11">
                  <p:embed/>
                </p:oleObj>
              </mc:Choice>
              <mc:Fallback>
                <p:oleObj name="Visio" r:id="rId4" imgW="2735946" imgH="186847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138" y="1747301"/>
                        <a:ext cx="7083380" cy="4835177"/>
                      </a:xfrm>
                      <a:prstGeom prst="rect">
                        <a:avLst/>
                      </a:prstGeom>
                      <a:noFill/>
                    </p:spPr>
                  </p:pic>
                </p:oleObj>
              </mc:Fallback>
            </mc:AlternateContent>
          </a:graphicData>
        </a:graphic>
      </p:graphicFrame>
    </p:spTree>
    <p:extLst>
      <p:ext uri="{BB962C8B-B14F-4D97-AF65-F5344CB8AC3E}">
        <p14:creationId xmlns:p14="http://schemas.microsoft.com/office/powerpoint/2010/main" val="3055734766"/>
      </p:ext>
    </p:extLst>
  </p:cSld>
  <p:clrMapOvr>
    <a:masterClrMapping/>
  </p:clrMapOvr>
  <p:transition spd="slow">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a:t>
            </a:r>
            <a:r>
              <a:rPr lang="zh-CN" altLang="en-US" sz="3200" b="1" dirty="0" smtClean="0">
                <a:effectLst>
                  <a:outerShdw blurRad="38100" dist="38100" dir="2700000" algn="tl">
                    <a:srgbClr val="000000">
                      <a:alpha val="43137"/>
                    </a:srgbClr>
                  </a:outerShdw>
                </a:effectLst>
              </a:rPr>
              <a:t>测试</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作为保证软件质量和可靠性的关键技术手段，软件测试正日益受到广泛的重视。但如何进行测试，如何提高测试的质量和效率，从而确保软件产品的质量和可靠性，仍是令人深感困扰的问题。</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13797186"/>
      </p:ext>
    </p:extLst>
  </p:cSld>
  <p:clrMapOvr>
    <a:masterClrMapping/>
  </p:clrMapOvr>
  <p:transition spd="slow">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13.6.1  </a:t>
            </a:r>
            <a:r>
              <a:rPr lang="zh-CN" altLang="en-US" sz="3200" b="1" dirty="0" smtClean="0">
                <a:effectLst>
                  <a:outerShdw blurRad="38100" dist="38100" dir="2700000" algn="tl">
                    <a:srgbClr val="000000">
                      <a:alpha val="43137"/>
                    </a:srgbClr>
                  </a:outerShdw>
                </a:effectLst>
              </a:rPr>
              <a:t>测试应用程序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严格的测试过程是保证新系统正常工作的唯一方法。在新系统投入正常运行之前，不同的测试方法可以帮助定位和解决问题。</a:t>
            </a:r>
          </a:p>
          <a:p>
            <a:r>
              <a:rPr lang="zh-CN" altLang="en-US" sz="2400" b="1" dirty="0" smtClean="0">
                <a:solidFill>
                  <a:schemeClr val="tx1"/>
                </a:solidFill>
                <a:effectLst>
                  <a:outerShdw blurRad="38100" dist="38100" dir="2700000" algn="tl">
                    <a:srgbClr val="000000">
                      <a:alpha val="43137"/>
                    </a:srgbClr>
                  </a:outerShdw>
                </a:effectLst>
              </a:rPr>
              <a:t>应用程序测试一般由单元测试、组装测试和确认（验收）测试等环节组成。</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90694960"/>
      </p:ext>
    </p:extLst>
  </p:cSld>
  <p:clrMapOvr>
    <a:masterClrMapping/>
  </p:clrMapOvr>
  <p:transition spd="slow">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13.6.1  </a:t>
            </a:r>
            <a:r>
              <a:rPr lang="zh-CN" altLang="en-US" sz="3200" b="1" dirty="0" smtClean="0">
                <a:effectLst>
                  <a:outerShdw blurRad="38100" dist="38100" dir="2700000" algn="tl">
                    <a:srgbClr val="000000">
                      <a:alpha val="43137"/>
                    </a:srgbClr>
                  </a:outerShdw>
                </a:effectLst>
              </a:rPr>
              <a:t>测试应用程序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当每个应用程序模块完成时，可以进行单元测试，以确保它能可靠正确地工作。当所有模块都完成和测试后，就需要进行组装测试以保证模块之间可以正确操作。单元测试和组装测试通常在测试域中完成。测试域是可以进行软件测试，而不会影响组织正常信息系统的区域。测试域可以是运行组织机构信息系统的计算机系统上某独立的存储空间，或者可能就位于完全独立的计算机系统上。在进行单元测试或者组装测试出现问题时，项目小组必须跟踪问题源，并解决之（调试和排错）。单元测试和组装测试可以重复进行以确保问题已经正确解决，并且没有引入新的问题。</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9478351"/>
      </p:ext>
    </p:extLst>
  </p:cSld>
  <p:clrMapOvr>
    <a:masterClrMapping/>
  </p:clrMapOvr>
  <p:transition spd="slow">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13.6.1  </a:t>
            </a:r>
            <a:r>
              <a:rPr lang="zh-CN" altLang="en-US" sz="3200" b="1" dirty="0" smtClean="0">
                <a:effectLst>
                  <a:outerShdw blurRad="38100" dist="38100" dir="2700000" algn="tl">
                    <a:srgbClr val="000000">
                      <a:alpha val="43137"/>
                    </a:srgbClr>
                  </a:outerShdw>
                </a:effectLst>
              </a:rPr>
              <a:t>测试应用程序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在单元测试和组装测试完成后，确认测试可以保证所有的硬件和软件组件能一起正常工作。如果修改了某个已经存在的信息系统后，就需要进行确认测试。在</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个全新的信息系统中，确认测试用来模拟日常的工作负载，以确保系统处理速度和精确性能满足说明文档的需求。在理想情况下，确认测试应该在测试域中进行。如果某组织机构没有足够的硬件资源来为测试目的复制现有信息系统，则确认测试必须“现场”进行，即在工作环境下进行测试，这时有可能会造成组织机构中部分日常功能受到影响。</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84019370"/>
      </p:ext>
    </p:extLst>
  </p:cSld>
  <p:clrMapOvr>
    <a:masterClrMapping/>
  </p:clrMapOvr>
  <p:transition spd="slow">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13.6.1  </a:t>
            </a:r>
            <a:r>
              <a:rPr lang="zh-CN" altLang="en-US" sz="3200" b="1" dirty="0" smtClean="0">
                <a:effectLst>
                  <a:outerShdw blurRad="38100" dist="38100" dir="2700000" algn="tl">
                    <a:srgbClr val="000000">
                      <a:alpha val="43137"/>
                    </a:srgbClr>
                  </a:outerShdw>
                </a:effectLst>
              </a:rPr>
              <a:t>测试应用程序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有时，也组织单独的验收测试阶段作为系统的最后测试。验收测试用来让新系统的购买者或使用者确信，系统能完成预期工作。验收测试过程通常由用户和系统分析员来设计，并且经常包括使用真实数据来确信新系统在数据加载的尖峰和平常情况下都能正常工作。</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95625575"/>
      </p:ext>
    </p:extLst>
  </p:cSld>
  <p:clrMapOvr>
    <a:masterClrMapping/>
  </p:clrMapOvr>
  <p:transition spd="slow">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a:t>
            </a:r>
            <a:r>
              <a:rPr lang="zh-CN" altLang="en-US" sz="3200" b="1" dirty="0" smtClean="0">
                <a:effectLst>
                  <a:outerShdw blurRad="38100" dist="38100" dir="2700000" algn="tl">
                    <a:srgbClr val="000000">
                      <a:alpha val="43137"/>
                    </a:srgbClr>
                  </a:outerShdw>
                </a:effectLst>
              </a:rPr>
              <a:t>测试自动化</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测试自动化是一项让计算机代替测试人员进行软件测试的技术，它可以让测试人员从烦琐和重复的测试活动中解脱出来，专心从事有意义的测试设计等活动。如果采用自动比较技术，还可以自动完成测试用例执行结果的判断，从而避免人工比对存在的疏漏问题。在大多数情况下，软件测试自动化可以减少开支，增加有限时间内可执行的测试，在执行相同数量测试时节约测试时间。</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22226885"/>
      </p:ext>
    </p:extLst>
  </p:cSld>
  <p:clrMapOvr>
    <a:masterClrMapping/>
  </p:clrMapOvr>
  <p:transition spd="slow">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13.6.2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a:t>
            </a:r>
            <a:r>
              <a:rPr lang="zh-CN" altLang="en-US" sz="3200" b="1" dirty="0" smtClean="0">
                <a:effectLst>
                  <a:outerShdw blurRad="38100" dist="38100" dir="2700000" algn="tl">
                    <a:srgbClr val="000000">
                      <a:alpha val="43137"/>
                    </a:srgbClr>
                  </a:outerShdw>
                </a:effectLst>
              </a:rPr>
              <a:t>测试自动化</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测试自动化通常借助测试工具进行。测试工具可以进行部分的测试设计、实现、执行和比较的工作。通过运用测试工具，可以达到提高测试效率的目的。所以，测试工具的选择和推广使用应该给予重视。部分的测试工具可以实现测试用例的自动生成，但通常的工作方式为人工设计测试用例，使用工具进行用例的执行和比较。</a:t>
            </a:r>
          </a:p>
          <a:p>
            <a:r>
              <a:rPr lang="zh-CN" altLang="en-US" sz="2400" b="1" dirty="0" smtClean="0">
                <a:solidFill>
                  <a:schemeClr val="tx1"/>
                </a:solidFill>
                <a:effectLst>
                  <a:outerShdw blurRad="38100" dist="38100" dir="2700000" algn="tl">
                    <a:srgbClr val="000000">
                      <a:alpha val="43137"/>
                    </a:srgbClr>
                  </a:outerShdw>
                </a:effectLst>
              </a:rPr>
              <a:t>软件测试自动化的设计通常必须由测试人员进行手工设计，但是在设计时却必须考虑自动化的特殊要求，否则无法实现利用工具进行用例的自动执行。为此，就必须在测试的设计和内容的组织方面采取一些特殊的方法。</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38381292"/>
      </p:ext>
    </p:extLst>
  </p:cSld>
  <p:clrMapOvr>
    <a:masterClrMapping/>
  </p:clrMapOvr>
  <p:transition spd="slow">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13.7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软件文档</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软件的正确使用和有效维护离不开文档。通常软件文档包括用户文档和系统文档。</a:t>
            </a:r>
          </a:p>
        </p:txBody>
      </p:sp>
    </p:spTree>
    <p:extLst>
      <p:ext uri="{BB962C8B-B14F-4D97-AF65-F5344CB8AC3E}">
        <p14:creationId xmlns:p14="http://schemas.microsoft.com/office/powerpoint/2010/main" val="71053419"/>
      </p:ext>
    </p:extLst>
  </p:cSld>
  <p:clrMapOvr>
    <a:masterClrMapping/>
  </p:clrMapOvr>
  <p:transition spd="slow">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13.7.1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用户文档</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为了正确运行软件，用户手册对用户是必不可少的，它告诉用户如何使用该软件，通常包含一个指导用户熟悉该软件各项特性的教程。好的用户手册能够成为功能强大的营销工具。手册应该面向新手和专业用户。</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95249199"/>
      </p:ext>
    </p:extLst>
  </p:cSld>
  <p:clrMapOvr>
    <a:masterClrMapping/>
  </p:clrMapOvr>
  <p:transition spd="slow">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13.7.2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系统文档</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系统文档定义软件本身。撰写系统文档的目的是为了让原始开发人员之外的人能够维护和修改软件。系统开发的各个阶段都应该有文档。</a:t>
            </a:r>
          </a:p>
          <a:p>
            <a:r>
              <a:rPr lang="zh-CN" altLang="en-US" sz="2400" b="1" dirty="0" smtClean="0">
                <a:solidFill>
                  <a:schemeClr val="tx1"/>
                </a:solidFill>
                <a:effectLst>
                  <a:outerShdw blurRad="38100" dist="38100" dir="2700000" algn="tl">
                    <a:srgbClr val="000000">
                      <a:alpha val="43137"/>
                    </a:srgbClr>
                  </a:outerShdw>
                </a:effectLst>
              </a:rPr>
              <a:t>国家标准</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计算机软件产品开发文件编制指南</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GB/T8567</a:t>
            </a:r>
            <a:r>
              <a:rPr lang="zh-CN" altLang="en-US" sz="2400" b="1" dirty="0" smtClean="0">
                <a:solidFill>
                  <a:schemeClr val="tx1"/>
                </a:solidFill>
                <a:effectLst>
                  <a:outerShdw blurRad="38100" dist="38100" dir="2700000" algn="tl">
                    <a:srgbClr val="000000">
                      <a:alpha val="43137"/>
                    </a:srgbClr>
                  </a:outerShdw>
                </a:effectLst>
              </a:rPr>
              <a:t>）建议在软件的开发过程中编制下述</a:t>
            </a:r>
            <a:r>
              <a:rPr lang="en-US" altLang="zh-CN" sz="2400" b="1" dirty="0" smtClean="0">
                <a:solidFill>
                  <a:schemeClr val="tx1"/>
                </a:solidFill>
                <a:effectLst>
                  <a:outerShdw blurRad="38100" dist="38100" dir="2700000" algn="tl">
                    <a:srgbClr val="000000">
                      <a:alpha val="43137"/>
                    </a:srgbClr>
                  </a:outerShdw>
                </a:effectLst>
              </a:rPr>
              <a:t>14</a:t>
            </a:r>
            <a:r>
              <a:rPr lang="zh-CN" altLang="en-US" sz="2400" b="1" dirty="0" smtClean="0">
                <a:solidFill>
                  <a:schemeClr val="tx1"/>
                </a:solidFill>
                <a:effectLst>
                  <a:outerShdw blurRad="38100" dist="38100" dir="2700000" algn="tl">
                    <a:srgbClr val="000000">
                      <a:alpha val="43137"/>
                    </a:srgbClr>
                  </a:outerShdw>
                </a:effectLst>
              </a:rPr>
              <a:t>种文件，即：可行性研究报告、项目开发计划、软件需求说明书、数据要求说明书、概要设计说明书、详细设计说明书、数据库设计说明书、用户手册、操作手册、模块开发卷宗、测试计划、测试分析报告、开发进度月报以及项目开发总结报告。</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38117140"/>
      </p:ext>
    </p:extLst>
  </p:cSld>
  <p:clrMapOvr>
    <a:masterClrMapping/>
  </p:clrMapOvr>
  <p:transition spd="slow">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13.7.2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系统文档</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而</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计算机软件需求说明编制指南</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GB/T9385</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计算机软件测试文件编制规范</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GB/T9386</a:t>
            </a:r>
            <a:r>
              <a:rPr lang="zh-CN" altLang="en-US" sz="2400" b="1" dirty="0" smtClean="0">
                <a:solidFill>
                  <a:schemeClr val="tx1"/>
                </a:solidFill>
                <a:effectLst>
                  <a:outerShdw blurRad="38100" dist="38100" dir="2700000" algn="tl">
                    <a:srgbClr val="000000">
                      <a:alpha val="43137"/>
                    </a:srgbClr>
                  </a:outerShdw>
                </a:effectLst>
              </a:rPr>
              <a:t>）等有关软件工程的国家标准对软件文件的编制提出了更为详尽的要求，</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软件文档管理指南</a:t>
            </a:r>
            <a:r>
              <a:rPr lang="en-US" altLang="zh-CN" sz="2400" b="1" dirty="0" smtClean="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GB/T16680</a:t>
            </a:r>
            <a:r>
              <a:rPr lang="zh-CN" altLang="en-US" sz="2400" b="1" dirty="0" smtClean="0">
                <a:solidFill>
                  <a:schemeClr val="tx1"/>
                </a:solidFill>
                <a:effectLst>
                  <a:outerShdw blurRad="38100" dist="38100" dir="2700000" algn="tl">
                    <a:srgbClr val="000000">
                      <a:alpha val="43137"/>
                    </a:srgbClr>
                  </a:outerShdw>
                </a:effectLst>
              </a:rPr>
              <a:t>）则明确了对软件文件的管理要求。</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30294789"/>
      </p:ext>
    </p:extLst>
  </p:cSld>
  <p:clrMapOvr>
    <a:masterClrMapping/>
  </p:clrMapOvr>
  <p:transition spd="slow">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13.8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面向对象方法和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UML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en-US" altLang="zh-CN" sz="2400" b="1" dirty="0" smtClean="0">
                <a:solidFill>
                  <a:schemeClr val="tx1"/>
                </a:solidFill>
                <a:effectLst>
                  <a:outerShdw blurRad="38100" dist="38100" dir="2700000" algn="tl">
                    <a:srgbClr val="000000">
                      <a:alpha val="43137"/>
                    </a:srgbClr>
                  </a:outerShdw>
                </a:effectLst>
              </a:rPr>
              <a:t>20</a:t>
            </a:r>
            <a:r>
              <a:rPr lang="zh-CN" altLang="en-US" sz="2400" b="1" dirty="0" smtClean="0">
                <a:solidFill>
                  <a:schemeClr val="tx1"/>
                </a:solidFill>
                <a:effectLst>
                  <a:outerShdw blurRad="38100" dist="38100" dir="2700000" algn="tl">
                    <a:srgbClr val="000000">
                      <a:alpha val="43137"/>
                    </a:srgbClr>
                  </a:outerShdw>
                </a:effectLst>
              </a:rPr>
              <a:t>世纪</a:t>
            </a:r>
            <a:r>
              <a:rPr lang="en-US" altLang="zh-CN" sz="2400" b="1" dirty="0" smtClean="0">
                <a:solidFill>
                  <a:schemeClr val="tx1"/>
                </a:solidFill>
                <a:effectLst>
                  <a:outerShdw blurRad="38100" dist="38100" dir="2700000" algn="tl">
                    <a:srgbClr val="000000">
                      <a:alpha val="43137"/>
                    </a:srgbClr>
                  </a:outerShdw>
                </a:effectLst>
              </a:rPr>
              <a:t>80</a:t>
            </a:r>
            <a:r>
              <a:rPr lang="zh-CN" altLang="en-US" sz="2400" b="1" dirty="0" smtClean="0">
                <a:solidFill>
                  <a:schemeClr val="tx1"/>
                </a:solidFill>
                <a:effectLst>
                  <a:outerShdw blurRad="38100" dist="38100" dir="2700000" algn="tl">
                    <a:srgbClr val="000000">
                      <a:alpha val="43137"/>
                    </a:srgbClr>
                  </a:outerShdw>
                </a:effectLst>
              </a:rPr>
              <a:t>年代以来，面向对象的方法与技术受到广泛重视，</a:t>
            </a:r>
            <a:r>
              <a:rPr lang="en-US" altLang="zh-CN" sz="2400" b="1" dirty="0" smtClean="0">
                <a:solidFill>
                  <a:schemeClr val="tx1"/>
                </a:solidFill>
                <a:effectLst>
                  <a:outerShdw blurRad="38100" dist="38100" dir="2700000" algn="tl">
                    <a:srgbClr val="000000">
                      <a:alpha val="43137"/>
                    </a:srgbClr>
                  </a:outerShdw>
                </a:effectLst>
              </a:rPr>
              <a:t>80</a:t>
            </a:r>
            <a:r>
              <a:rPr lang="zh-CN" altLang="en-US" sz="2400" b="1" dirty="0" smtClean="0">
                <a:solidFill>
                  <a:schemeClr val="tx1"/>
                </a:solidFill>
                <a:effectLst>
                  <a:outerShdw blurRad="38100" dist="38100" dir="2700000" algn="tl">
                    <a:srgbClr val="000000">
                      <a:alpha val="43137"/>
                    </a:srgbClr>
                  </a:outerShdw>
                </a:effectLst>
              </a:rPr>
              <a:t>年代中到</a:t>
            </a:r>
            <a:r>
              <a:rPr lang="en-US" altLang="zh-CN" sz="2400" b="1" dirty="0" smtClean="0">
                <a:solidFill>
                  <a:schemeClr val="tx1"/>
                </a:solidFill>
                <a:effectLst>
                  <a:outerShdw blurRad="38100" dist="38100" dir="2700000" algn="tl">
                    <a:srgbClr val="000000">
                      <a:alpha val="43137"/>
                    </a:srgbClr>
                  </a:outerShdw>
                </a:effectLst>
              </a:rPr>
              <a:t>90</a:t>
            </a:r>
            <a:r>
              <a:rPr lang="zh-CN" altLang="en-US" sz="2400" b="1" dirty="0" smtClean="0">
                <a:solidFill>
                  <a:schemeClr val="tx1"/>
                </a:solidFill>
                <a:effectLst>
                  <a:outerShdw blurRad="38100" dist="38100" dir="2700000" algn="tl">
                    <a:srgbClr val="000000">
                      <a:alpha val="43137"/>
                    </a:srgbClr>
                  </a:outerShdw>
                </a:effectLst>
              </a:rPr>
              <a:t>年代，针对面向对象的分析与设计演化成一种完整的软件开发方法和系统的技术体系，即面向对象软件工程。</a:t>
            </a:r>
          </a:p>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面向对象（</a:t>
            </a:r>
            <a:r>
              <a:rPr lang="en-US" altLang="zh-CN" sz="2400" b="1" dirty="0" smtClean="0">
                <a:solidFill>
                  <a:schemeClr val="tx1"/>
                </a:solidFill>
                <a:effectLst>
                  <a:outerShdw blurRad="38100" dist="38100" dir="2700000" algn="tl">
                    <a:srgbClr val="000000">
                      <a:alpha val="43137"/>
                    </a:srgbClr>
                  </a:outerShdw>
                </a:effectLst>
              </a:rPr>
              <a:t>OO</a:t>
            </a:r>
            <a:r>
              <a:rPr lang="zh-CN" altLang="en-US" sz="2400" b="1" dirty="0" smtClean="0">
                <a:solidFill>
                  <a:schemeClr val="tx1"/>
                </a:solidFill>
                <a:effectLst>
                  <a:outerShdw blurRad="38100" dist="38100" dir="2700000" algn="tl">
                    <a:srgbClr val="000000">
                      <a:alpha val="43137"/>
                    </a:srgbClr>
                  </a:outerShdw>
                </a:effectLst>
              </a:rPr>
              <a:t>）方法是一种把面向对象的思想应用于软件开发过程中，指导开发活动的系统方法，它是建立在对象概念（对象、类和继承）基础上的方法。面向对象典型的方法有</a:t>
            </a:r>
            <a:r>
              <a:rPr lang="en-US" altLang="zh-CN" sz="2400" b="1" dirty="0" smtClean="0">
                <a:solidFill>
                  <a:schemeClr val="tx1"/>
                </a:solidFill>
                <a:effectLst>
                  <a:outerShdw blurRad="38100" dist="38100" dir="2700000" algn="tl">
                    <a:srgbClr val="000000">
                      <a:alpha val="43137"/>
                    </a:srgbClr>
                  </a:outerShdw>
                </a:effectLst>
              </a:rPr>
              <a:t>P. Coad</a:t>
            </a:r>
            <a:r>
              <a:rPr lang="zh-CN" altLang="en-US" sz="2400" b="1" dirty="0" smtClean="0">
                <a:solidFill>
                  <a:schemeClr val="tx1"/>
                </a:solidFill>
                <a:effectLst>
                  <a:outerShdw blurRad="38100" dist="38100" dir="2700000" algn="tl">
                    <a:srgbClr val="000000">
                      <a:alpha val="43137"/>
                    </a:srgbClr>
                  </a:outerShdw>
                </a:effectLst>
              </a:rPr>
              <a:t>和</a:t>
            </a:r>
            <a:r>
              <a:rPr lang="en-US" altLang="zh-CN" sz="2400" b="1" dirty="0" smtClean="0">
                <a:solidFill>
                  <a:schemeClr val="tx1"/>
                </a:solidFill>
                <a:effectLst>
                  <a:outerShdw blurRad="38100" dist="38100" dir="2700000" algn="tl">
                    <a:srgbClr val="000000">
                      <a:alpha val="43137"/>
                    </a:srgbClr>
                  </a:outerShdw>
                </a:effectLst>
              </a:rPr>
              <a:t>E. Yourdon</a:t>
            </a:r>
            <a:r>
              <a:rPr lang="zh-CN" altLang="en-US" sz="2400" b="1" dirty="0" smtClean="0">
                <a:solidFill>
                  <a:schemeClr val="tx1"/>
                </a:solidFill>
                <a:effectLst>
                  <a:outerShdw blurRad="38100" dist="38100" dir="2700000" algn="tl">
                    <a:srgbClr val="000000">
                      <a:alpha val="43137"/>
                    </a:srgbClr>
                  </a:outerShdw>
                </a:effectLst>
              </a:rPr>
              <a:t>的面向对象分析（</a:t>
            </a:r>
            <a:r>
              <a:rPr lang="en-US" altLang="zh-CN" sz="2400" b="1" dirty="0" smtClean="0">
                <a:solidFill>
                  <a:schemeClr val="tx1"/>
                </a:solidFill>
                <a:effectLst>
                  <a:outerShdw blurRad="38100" dist="38100" dir="2700000" algn="tl">
                    <a:srgbClr val="000000">
                      <a:alpha val="43137"/>
                    </a:srgbClr>
                  </a:outerShdw>
                </a:effectLst>
              </a:rPr>
              <a:t>OOA</a:t>
            </a:r>
            <a:r>
              <a:rPr lang="zh-CN" altLang="en-US" sz="2400" b="1" dirty="0" smtClean="0">
                <a:solidFill>
                  <a:schemeClr val="tx1"/>
                </a:solidFill>
                <a:effectLst>
                  <a:outerShdw blurRad="38100" dist="38100" dir="2700000" algn="tl">
                    <a:srgbClr val="000000">
                      <a:alpha val="43137"/>
                    </a:srgbClr>
                  </a:outerShdw>
                </a:effectLst>
              </a:rPr>
              <a:t>）和面向对象设计（</a:t>
            </a:r>
            <a:r>
              <a:rPr lang="en-US" altLang="zh-CN" sz="2400" b="1" dirty="0" smtClean="0">
                <a:solidFill>
                  <a:schemeClr val="tx1"/>
                </a:solidFill>
                <a:effectLst>
                  <a:outerShdw blurRad="38100" dist="38100" dir="2700000" algn="tl">
                    <a:srgbClr val="000000">
                      <a:alpha val="43137"/>
                    </a:srgbClr>
                  </a:outerShdw>
                </a:effectLst>
              </a:rPr>
              <a:t>OOD</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G. </a:t>
            </a:r>
            <a:r>
              <a:rPr lang="en-US" altLang="zh-CN" sz="2400" b="1" dirty="0" err="1" smtClean="0">
                <a:solidFill>
                  <a:schemeClr val="tx1"/>
                </a:solidFill>
                <a:effectLst>
                  <a:outerShdw blurRad="38100" dist="38100" dir="2700000" algn="tl">
                    <a:srgbClr val="000000">
                      <a:alpha val="43137"/>
                    </a:srgbClr>
                  </a:outerShdw>
                </a:effectLst>
              </a:rPr>
              <a:t>Booch</a:t>
            </a:r>
            <a:r>
              <a:rPr lang="zh-CN" altLang="en-US" sz="2400" b="1" dirty="0" smtClean="0">
                <a:solidFill>
                  <a:schemeClr val="tx1"/>
                </a:solidFill>
                <a:effectLst>
                  <a:outerShdw blurRad="38100" dist="38100" dir="2700000" algn="tl">
                    <a:srgbClr val="000000">
                      <a:alpha val="43137"/>
                    </a:srgbClr>
                  </a:outerShdw>
                </a:effectLst>
              </a:rPr>
              <a:t>的面向对象开发方法，</a:t>
            </a:r>
            <a:r>
              <a:rPr lang="en-US" altLang="zh-CN" sz="2400" b="1" dirty="0" smtClean="0">
                <a:solidFill>
                  <a:schemeClr val="tx1"/>
                </a:solidFill>
                <a:effectLst>
                  <a:outerShdw blurRad="38100" dist="38100" dir="2700000" algn="tl">
                    <a:srgbClr val="000000">
                      <a:alpha val="43137"/>
                    </a:srgbClr>
                  </a:outerShdw>
                </a:effectLst>
              </a:rPr>
              <a:t>J. </a:t>
            </a:r>
            <a:r>
              <a:rPr lang="en-US" altLang="zh-CN" sz="2400" b="1" dirty="0" err="1" smtClean="0">
                <a:solidFill>
                  <a:schemeClr val="tx1"/>
                </a:solidFill>
                <a:effectLst>
                  <a:outerShdw blurRad="38100" dist="38100" dir="2700000" algn="tl">
                    <a:srgbClr val="000000">
                      <a:alpha val="43137"/>
                    </a:srgbClr>
                  </a:outerShdw>
                </a:effectLst>
              </a:rPr>
              <a:t>Rumbaugh</a:t>
            </a:r>
            <a:r>
              <a:rPr lang="zh-CN" altLang="en-US" sz="2400" b="1" dirty="0" smtClean="0">
                <a:solidFill>
                  <a:schemeClr val="tx1"/>
                </a:solidFill>
                <a:effectLst>
                  <a:outerShdw blurRad="38100" dist="38100" dir="2700000" algn="tl">
                    <a:srgbClr val="000000">
                      <a:alpha val="43137"/>
                    </a:srgbClr>
                  </a:outerShdw>
                </a:effectLst>
              </a:rPr>
              <a:t>等人提出的对象建模技术（</a:t>
            </a:r>
            <a:r>
              <a:rPr lang="en-US" altLang="zh-CN" sz="2400" b="1" dirty="0" smtClean="0">
                <a:solidFill>
                  <a:schemeClr val="tx1"/>
                </a:solidFill>
                <a:effectLst>
                  <a:outerShdw blurRad="38100" dist="38100" dir="2700000" algn="tl">
                    <a:srgbClr val="000000">
                      <a:alpha val="43137"/>
                    </a:srgbClr>
                  </a:outerShdw>
                </a:effectLst>
              </a:rPr>
              <a:t>OMT</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Jacobson</a:t>
            </a:r>
            <a:r>
              <a:rPr lang="zh-CN" altLang="en-US" sz="2400" b="1" dirty="0" smtClean="0">
                <a:solidFill>
                  <a:schemeClr val="tx1"/>
                </a:solidFill>
                <a:effectLst>
                  <a:outerShdw blurRad="38100" dist="38100" dir="2700000" algn="tl">
                    <a:srgbClr val="000000">
                      <a:alpha val="43137"/>
                    </a:srgbClr>
                  </a:outerShdw>
                </a:effectLst>
              </a:rPr>
              <a:t>的面向对象软件工程（</a:t>
            </a:r>
            <a:r>
              <a:rPr lang="en-US" altLang="zh-CN" sz="2400" b="1" dirty="0" smtClean="0">
                <a:solidFill>
                  <a:schemeClr val="tx1"/>
                </a:solidFill>
                <a:effectLst>
                  <a:outerShdw blurRad="38100" dist="38100" dir="2700000" algn="tl">
                    <a:srgbClr val="000000">
                      <a:alpha val="43137"/>
                    </a:srgbClr>
                  </a:outerShdw>
                </a:effectLst>
              </a:rPr>
              <a:t>OOSE</a:t>
            </a:r>
            <a:r>
              <a:rPr lang="zh-CN" altLang="en-US" sz="2400" b="1" dirty="0" smtClean="0">
                <a:solidFill>
                  <a:schemeClr val="tx1"/>
                </a:solidFill>
                <a:effectLst>
                  <a:outerShdw blurRad="38100" dist="38100" dir="2700000" algn="tl">
                    <a:srgbClr val="000000">
                      <a:alpha val="43137"/>
                    </a:srgbClr>
                  </a:outerShdw>
                </a:effectLst>
              </a:rPr>
              <a:t>）等。面向对象方法已经成为主流开发方法之一。</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5893419"/>
      </p:ext>
    </p:extLst>
  </p:cSld>
  <p:clrMapOvr>
    <a:masterClrMapping/>
  </p:clrMapOvr>
  <p:transition spd="slow">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13.8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面向对象方法和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UML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各种面向对象的方法都有自己的表示法、过程和工具，甚至各种方法所使用的术语也不尽相同。而每种方法都各有短长，很难找到一个最佳答案。设计“统一建模语言”（</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）的一个初始目标就是结束面向对象领域中的方法大战。</a:t>
            </a:r>
          </a:p>
          <a:p>
            <a:r>
              <a:rPr lang="en-US" altLang="zh-CN" sz="2400" b="1" dirty="0" smtClean="0">
                <a:solidFill>
                  <a:schemeClr val="tx1"/>
                </a:solidFill>
                <a:effectLst>
                  <a:outerShdw blurRad="38100" dist="38100" dir="2700000" algn="tl">
                    <a:srgbClr val="000000">
                      <a:alpha val="43137"/>
                    </a:srgbClr>
                  </a:outerShdw>
                </a:effectLst>
              </a:rPr>
              <a:t>1994</a:t>
            </a:r>
            <a:r>
              <a:rPr lang="zh-CN" altLang="en-US" sz="2400" b="1" dirty="0" smtClean="0">
                <a:solidFill>
                  <a:schemeClr val="tx1"/>
                </a:solidFill>
                <a:effectLst>
                  <a:outerShdw blurRad="38100" dist="38100" dir="2700000" algn="tl">
                    <a:srgbClr val="000000">
                      <a:alpha val="43137"/>
                    </a:srgbClr>
                  </a:outerShdw>
                </a:effectLst>
              </a:rPr>
              <a:t>年</a:t>
            </a:r>
            <a:r>
              <a:rPr lang="en-US" altLang="zh-CN" sz="2400" b="1" dirty="0" err="1" smtClean="0">
                <a:solidFill>
                  <a:schemeClr val="tx1"/>
                </a:solidFill>
                <a:effectLst>
                  <a:outerShdw blurRad="38100" dist="38100" dir="2700000" algn="tl">
                    <a:srgbClr val="000000">
                      <a:alpha val="43137"/>
                    </a:srgbClr>
                  </a:outerShdw>
                </a:effectLst>
              </a:rPr>
              <a:t>Booch</a:t>
            </a:r>
            <a:r>
              <a:rPr lang="zh-CN" altLang="en-US" sz="2400" b="1" dirty="0" smtClean="0">
                <a:solidFill>
                  <a:schemeClr val="tx1"/>
                </a:solidFill>
                <a:effectLst>
                  <a:outerShdw blurRad="38100" dist="38100" dir="2700000" algn="tl">
                    <a:srgbClr val="000000">
                      <a:alpha val="43137"/>
                    </a:srgbClr>
                  </a:outerShdw>
                </a:effectLst>
              </a:rPr>
              <a:t>和</a:t>
            </a:r>
            <a:r>
              <a:rPr lang="en-US" altLang="zh-CN" sz="2400" b="1" dirty="0" err="1" smtClean="0">
                <a:solidFill>
                  <a:schemeClr val="tx1"/>
                </a:solidFill>
                <a:effectLst>
                  <a:outerShdw blurRad="38100" dist="38100" dir="2700000" algn="tl">
                    <a:srgbClr val="000000">
                      <a:alpha val="43137"/>
                    </a:srgbClr>
                  </a:outerShdw>
                </a:effectLst>
              </a:rPr>
              <a:t>Rumbaugh</a:t>
            </a:r>
            <a:r>
              <a:rPr lang="zh-CN" altLang="en-US" sz="2400" b="1" dirty="0" smtClean="0">
                <a:solidFill>
                  <a:schemeClr val="tx1"/>
                </a:solidFill>
                <a:effectLst>
                  <a:outerShdw blurRad="38100" dist="38100" dir="2700000" algn="tl">
                    <a:srgbClr val="000000">
                      <a:alpha val="43137"/>
                    </a:srgbClr>
                  </a:outerShdw>
                </a:effectLst>
              </a:rPr>
              <a:t>在</a:t>
            </a:r>
            <a:r>
              <a:rPr lang="en-US" altLang="zh-CN" sz="2400" b="1" dirty="0" smtClean="0">
                <a:solidFill>
                  <a:schemeClr val="tx1"/>
                </a:solidFill>
                <a:effectLst>
                  <a:outerShdw blurRad="38100" dist="38100" dir="2700000" algn="tl">
                    <a:srgbClr val="000000">
                      <a:alpha val="43137"/>
                    </a:srgbClr>
                  </a:outerShdw>
                </a:effectLst>
              </a:rPr>
              <a:t>Rational Software Corporation</a:t>
            </a:r>
            <a:r>
              <a:rPr lang="zh-CN" altLang="en-US" sz="2400" b="1" dirty="0" smtClean="0">
                <a:solidFill>
                  <a:schemeClr val="tx1"/>
                </a:solidFill>
                <a:effectLst>
                  <a:outerShdw blurRad="38100" dist="38100" dir="2700000" algn="tl">
                    <a:srgbClr val="000000">
                      <a:alpha val="43137"/>
                    </a:srgbClr>
                  </a:outerShdw>
                </a:effectLst>
              </a:rPr>
              <a:t>开始了</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的工作，其目标是创建一个“统一的方法”，并于</a:t>
            </a:r>
            <a:r>
              <a:rPr lang="en-US" altLang="zh-CN" sz="2400" b="1" dirty="0" smtClean="0">
                <a:solidFill>
                  <a:schemeClr val="tx1"/>
                </a:solidFill>
                <a:effectLst>
                  <a:outerShdw blurRad="38100" dist="38100" dir="2700000" algn="tl">
                    <a:srgbClr val="000000">
                      <a:alpha val="43137"/>
                    </a:srgbClr>
                  </a:outerShdw>
                </a:effectLst>
              </a:rPr>
              <a:t>1996</a:t>
            </a:r>
            <a:r>
              <a:rPr lang="zh-CN" altLang="en-US" sz="2400" b="1" dirty="0" smtClean="0">
                <a:solidFill>
                  <a:schemeClr val="tx1"/>
                </a:solidFill>
                <a:effectLst>
                  <a:outerShdw blurRad="38100" dist="38100" dir="2700000" algn="tl">
                    <a:srgbClr val="000000">
                      <a:alpha val="43137"/>
                    </a:srgbClr>
                  </a:outerShdw>
                </a:effectLst>
              </a:rPr>
              <a:t>年分别推出了</a:t>
            </a:r>
            <a:r>
              <a:rPr lang="en-US" altLang="zh-CN" sz="2400" b="1" dirty="0" smtClean="0">
                <a:solidFill>
                  <a:schemeClr val="tx1"/>
                </a:solidFill>
                <a:effectLst>
                  <a:outerShdw blurRad="38100" dist="38100" dir="2700000" algn="tl">
                    <a:srgbClr val="000000">
                      <a:alpha val="43137"/>
                    </a:srgbClr>
                  </a:outerShdw>
                </a:effectLst>
              </a:rPr>
              <a:t>UML 0.9</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UML 0.91</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UML 1.0</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UML 1.1</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21834096"/>
      </p:ext>
    </p:extLst>
  </p:cSld>
  <p:clrMapOvr>
    <a:masterClrMapping/>
  </p:clrMapOvr>
  <p:transition spd="slow">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13.8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面向对象方法和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UML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自</a:t>
            </a:r>
            <a:r>
              <a:rPr lang="en-US" altLang="zh-CN" sz="2400" b="1" dirty="0" smtClean="0">
                <a:solidFill>
                  <a:schemeClr val="tx1"/>
                </a:solidFill>
                <a:effectLst>
                  <a:outerShdw blurRad="38100" dist="38100" dir="2700000" algn="tl">
                    <a:srgbClr val="000000">
                      <a:alpha val="43137"/>
                    </a:srgbClr>
                  </a:outerShdw>
                </a:effectLst>
              </a:rPr>
              <a:t>1996</a:t>
            </a:r>
            <a:r>
              <a:rPr lang="zh-CN" altLang="en-US" sz="2400" b="1" dirty="0" smtClean="0">
                <a:solidFill>
                  <a:schemeClr val="tx1"/>
                </a:solidFill>
                <a:effectLst>
                  <a:outerShdw blurRad="38100" dist="38100" dir="2700000" algn="tl">
                    <a:srgbClr val="000000">
                      <a:alpha val="43137"/>
                    </a:srgbClr>
                  </a:outerShdw>
                </a:effectLst>
              </a:rPr>
              <a:t>年起，一些机构把采用</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作为其商业策略，宣布支持并采用</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，并成立了</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成员协会，以完善加强和促进</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的定义。到</a:t>
            </a:r>
            <a:r>
              <a:rPr lang="en-US" altLang="zh-CN" sz="2400" b="1" dirty="0" smtClean="0">
                <a:solidFill>
                  <a:schemeClr val="tx1"/>
                </a:solidFill>
                <a:effectLst>
                  <a:outerShdw blurRad="38100" dist="38100" dir="2700000" algn="tl">
                    <a:srgbClr val="000000">
                      <a:alpha val="43137"/>
                    </a:srgbClr>
                  </a:outerShdw>
                </a:effectLst>
              </a:rPr>
              <a:t>1996</a:t>
            </a:r>
            <a:r>
              <a:rPr lang="zh-CN" altLang="en-US" sz="2400" b="1" dirty="0" smtClean="0">
                <a:solidFill>
                  <a:schemeClr val="tx1"/>
                </a:solidFill>
                <a:effectLst>
                  <a:outerShdw blurRad="38100" dist="38100" dir="2700000" algn="tl">
                    <a:srgbClr val="000000">
                      <a:alpha val="43137"/>
                    </a:srgbClr>
                  </a:outerShdw>
                </a:effectLst>
              </a:rPr>
              <a:t>年底，</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已稳定地占领了面向对象技术市场，成为事实上的工业标准。</a:t>
            </a:r>
            <a:r>
              <a:rPr lang="en-US" altLang="zh-CN" sz="2400" b="1" dirty="0" smtClean="0">
                <a:solidFill>
                  <a:schemeClr val="tx1"/>
                </a:solidFill>
                <a:effectLst>
                  <a:outerShdw blurRad="38100" dist="38100" dir="2700000" algn="tl">
                    <a:srgbClr val="000000">
                      <a:alpha val="43137"/>
                    </a:srgbClr>
                  </a:outerShdw>
                </a:effectLst>
              </a:rPr>
              <a:t>1997</a:t>
            </a:r>
            <a:r>
              <a:rPr lang="zh-CN" altLang="en-US" sz="2400" b="1" dirty="0" smtClean="0">
                <a:solidFill>
                  <a:schemeClr val="tx1"/>
                </a:solidFill>
                <a:effectLst>
                  <a:outerShdw blurRad="38100" dist="38100" dir="2700000" algn="tl">
                    <a:srgbClr val="000000">
                      <a:alpha val="43137"/>
                    </a:srgbClr>
                  </a:outerShdw>
                </a:effectLst>
              </a:rPr>
              <a:t>年</a:t>
            </a:r>
            <a:r>
              <a:rPr lang="en-US" altLang="zh-CN" sz="2400" b="1" dirty="0" smtClean="0">
                <a:solidFill>
                  <a:schemeClr val="tx1"/>
                </a:solidFill>
                <a:effectLst>
                  <a:outerShdw blurRad="38100" dist="38100" dir="2700000" algn="tl">
                    <a:srgbClr val="000000">
                      <a:alpha val="43137"/>
                    </a:srgbClr>
                  </a:outerShdw>
                </a:effectLst>
              </a:rPr>
              <a:t>11</a:t>
            </a:r>
            <a:r>
              <a:rPr lang="zh-CN" altLang="en-US" sz="2400" b="1" dirty="0" smtClean="0">
                <a:solidFill>
                  <a:schemeClr val="tx1"/>
                </a:solidFill>
                <a:effectLst>
                  <a:outerShdw blurRad="38100" dist="38100" dir="2700000" algn="tl">
                    <a:srgbClr val="000000">
                      <a:alpha val="43137"/>
                    </a:srgbClr>
                  </a:outerShdw>
                </a:effectLst>
              </a:rPr>
              <a:t>月，国际对象管理组织（</a:t>
            </a:r>
            <a:r>
              <a:rPr lang="en-US" altLang="zh-CN" sz="2400" b="1" dirty="0" smtClean="0">
                <a:solidFill>
                  <a:schemeClr val="tx1"/>
                </a:solidFill>
                <a:effectLst>
                  <a:outerShdw blurRad="38100" dist="38100" dir="2700000" algn="tl">
                    <a:srgbClr val="000000">
                      <a:alpha val="43137"/>
                    </a:srgbClr>
                  </a:outerShdw>
                </a:effectLst>
              </a:rPr>
              <a:t>OMG</a:t>
            </a:r>
            <a:r>
              <a:rPr lang="zh-CN" altLang="en-US" sz="2400" b="1" dirty="0" smtClean="0">
                <a:solidFill>
                  <a:schemeClr val="tx1"/>
                </a:solidFill>
                <a:effectLst>
                  <a:outerShdw blurRad="38100" dist="38100" dir="2700000" algn="tl">
                    <a:srgbClr val="000000">
                      <a:alpha val="43137"/>
                    </a:srgbClr>
                  </a:outerShdw>
                </a:effectLst>
              </a:rPr>
              <a:t>）批准把</a:t>
            </a:r>
            <a:r>
              <a:rPr lang="en-US" altLang="zh-CN" sz="2400" b="1" dirty="0" smtClean="0">
                <a:solidFill>
                  <a:schemeClr val="tx1"/>
                </a:solidFill>
                <a:effectLst>
                  <a:outerShdw blurRad="38100" dist="38100" dir="2700000" algn="tl">
                    <a:srgbClr val="000000">
                      <a:alpha val="43137"/>
                    </a:srgbClr>
                  </a:outerShdw>
                </a:effectLst>
              </a:rPr>
              <a:t>UML 1.1</a:t>
            </a:r>
            <a:r>
              <a:rPr lang="zh-CN" altLang="en-US" sz="2400" b="1" dirty="0" smtClean="0">
                <a:solidFill>
                  <a:schemeClr val="tx1"/>
                </a:solidFill>
                <a:effectLst>
                  <a:outerShdw blurRad="38100" dist="38100" dir="2700000" algn="tl">
                    <a:srgbClr val="000000">
                      <a:alpha val="43137"/>
                    </a:srgbClr>
                  </a:outerShdw>
                </a:effectLst>
              </a:rPr>
              <a:t>作为基于面向对象技术的标准建模语言，它由记号（模型中使用的符号）和一组如何使用它的规则（语法、语义和语用）组成。</a:t>
            </a:r>
          </a:p>
        </p:txBody>
      </p:sp>
    </p:spTree>
    <p:extLst>
      <p:ext uri="{BB962C8B-B14F-4D97-AF65-F5344CB8AC3E}">
        <p14:creationId xmlns:p14="http://schemas.microsoft.com/office/powerpoint/2010/main" val="3938409337"/>
      </p:ext>
    </p:extLst>
  </p:cSld>
  <p:clrMapOvr>
    <a:masterClrMapping/>
  </p:clrMapOvr>
  <p:transition spd="slow">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13.8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面向对象方法和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UML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一个系统往往可以从不同的角度进行观察，从一个角度观察到的系统，构成系统的一个视图，每个视图是整个系统描述的一个投影，说明了系统的一个特殊侧面。若干个不同的视图可以完整地描述所建造的系统。视图并不是一种图表，它是由若干幅图组成的一种抽象。每种视图用若干幅图来描述，一幅图包含了系统某一特殊方面的信息，它阐明了系统的一个特定部分或方面。由于不同视图之间存在一些交叉，因此一幅图可以作为多个视图的一部分。一幅图由若干个模型元素组成，模型元素表示图中的概念，如类、对象、用例、结点、接口、包、注解、构件等都是模型元素。用于表示模型元素之间相互连接的关系也是模型元素，如关联、泛化、依赖、聚集等。</a:t>
            </a:r>
          </a:p>
          <a:p>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中有九种图（</a:t>
            </a:r>
            <a:r>
              <a:rPr lang="en-US" altLang="zh-CN" sz="2400" b="1" dirty="0" smtClean="0">
                <a:solidFill>
                  <a:schemeClr val="tx1"/>
                </a:solidFill>
                <a:effectLst>
                  <a:outerShdw blurRad="38100" dist="38100" dir="2700000" algn="tl">
                    <a:srgbClr val="000000">
                      <a:alpha val="43137"/>
                    </a:srgbClr>
                  </a:outerShdw>
                </a:effectLst>
              </a:rPr>
              <a:t>Diagram</a:t>
            </a:r>
            <a:r>
              <a:rPr lang="zh-CN" altLang="en-US" sz="2400" b="1" dirty="0" smtClean="0">
                <a:solidFill>
                  <a:schemeClr val="tx1"/>
                </a:solidFill>
                <a:effectLst>
                  <a:outerShdw blurRad="38100" dist="38100" dir="2700000" algn="tl">
                    <a:srgbClr val="000000">
                      <a:alpha val="43137"/>
                    </a:srgbClr>
                  </a:outerShdw>
                </a:effectLst>
              </a:rPr>
              <a:t>）和</a:t>
            </a:r>
            <a:r>
              <a:rPr lang="en-US" altLang="zh-CN" sz="2400" b="1" dirty="0" smtClean="0">
                <a:solidFill>
                  <a:schemeClr val="tx1"/>
                </a:solidFill>
                <a:effectLst>
                  <a:outerShdw blurRad="38100" dist="38100" dir="2700000" algn="tl">
                    <a:srgbClr val="000000">
                      <a:alpha val="43137"/>
                    </a:srgbClr>
                  </a:outerShdw>
                </a:effectLst>
              </a:rPr>
              <a:t>5</a:t>
            </a:r>
            <a:r>
              <a:rPr lang="zh-CN" altLang="en-US" sz="2400" b="1" dirty="0" smtClean="0">
                <a:solidFill>
                  <a:schemeClr val="tx1"/>
                </a:solidFill>
                <a:effectLst>
                  <a:outerShdw blurRad="38100" dist="38100" dir="2700000" algn="tl">
                    <a:srgbClr val="000000">
                      <a:alpha val="43137"/>
                    </a:srgbClr>
                  </a:outerShdw>
                </a:effectLst>
              </a:rPr>
              <a:t>种视图。</a:t>
            </a:r>
            <a:r>
              <a:rPr lang="en-US" altLang="zh-CN" sz="2400" b="1" dirty="0" smtClean="0">
                <a:solidFill>
                  <a:schemeClr val="tx1"/>
                </a:solidFill>
                <a:effectLst>
                  <a:outerShdw blurRad="38100" dist="38100" dir="2700000" algn="tl">
                    <a:srgbClr val="000000">
                      <a:alpha val="43137"/>
                    </a:srgbClr>
                  </a:outerShdw>
                </a:effectLst>
              </a:rPr>
              <a:t>9</a:t>
            </a:r>
            <a:r>
              <a:rPr lang="zh-CN" altLang="en-US" sz="2400" b="1" dirty="0" smtClean="0">
                <a:solidFill>
                  <a:schemeClr val="tx1"/>
                </a:solidFill>
                <a:effectLst>
                  <a:outerShdw blurRad="38100" dist="38100" dir="2700000" algn="tl">
                    <a:srgbClr val="000000">
                      <a:alpha val="43137"/>
                    </a:srgbClr>
                  </a:outerShdw>
                </a:effectLst>
              </a:rPr>
              <a:t>种图是：用例图（</a:t>
            </a:r>
            <a:r>
              <a:rPr lang="en-US" altLang="zh-CN" sz="2400" b="1" dirty="0" smtClean="0">
                <a:solidFill>
                  <a:schemeClr val="tx1"/>
                </a:solidFill>
                <a:effectLst>
                  <a:outerShdw blurRad="38100" dist="38100" dir="2700000" algn="tl">
                    <a:srgbClr val="000000">
                      <a:alpha val="43137"/>
                    </a:srgbClr>
                  </a:outerShdw>
                </a:effectLst>
              </a:rPr>
              <a:t>Use-</a:t>
            </a:r>
            <a:r>
              <a:rPr lang="en-US" altLang="zh-CN" sz="2400" b="1" dirty="0" err="1" smtClean="0">
                <a:solidFill>
                  <a:schemeClr val="tx1"/>
                </a:solidFill>
                <a:effectLst>
                  <a:outerShdw blurRad="38100" dist="38100" dir="2700000" algn="tl">
                    <a:srgbClr val="000000">
                      <a:alpha val="43137"/>
                    </a:srgbClr>
                  </a:outerShdw>
                </a:effectLst>
              </a:rPr>
              <a:t>Caseram</a:t>
            </a:r>
            <a:r>
              <a:rPr lang="zh-CN" altLang="en-US" sz="2400" b="1" dirty="0" smtClean="0">
                <a:solidFill>
                  <a:schemeClr val="tx1"/>
                </a:solidFill>
                <a:effectLst>
                  <a:outerShdw blurRad="38100" dist="38100" dir="2700000" algn="tl">
                    <a:srgbClr val="000000">
                      <a:alpha val="43137"/>
                    </a:srgbClr>
                  </a:outerShdw>
                </a:effectLst>
              </a:rPr>
              <a:t>）、类图（</a:t>
            </a:r>
            <a:r>
              <a:rPr lang="en-US" altLang="zh-CN" sz="2400" b="1" dirty="0" smtClean="0">
                <a:solidFill>
                  <a:schemeClr val="tx1"/>
                </a:solidFill>
                <a:effectLst>
                  <a:outerShdw blurRad="38100" dist="38100" dir="2700000" algn="tl">
                    <a:srgbClr val="000000">
                      <a:alpha val="43137"/>
                    </a:srgbClr>
                  </a:outerShdw>
                </a:effectLst>
              </a:rPr>
              <a:t>Class</a:t>
            </a:r>
            <a:r>
              <a:rPr lang="zh-CN" altLang="en-US" sz="2400" b="1" dirty="0" smtClean="0">
                <a:solidFill>
                  <a:schemeClr val="tx1"/>
                </a:solidFill>
                <a:effectLst>
                  <a:outerShdw blurRad="38100" dist="38100" dir="2700000" algn="tl">
                    <a:srgbClr val="000000">
                      <a:alpha val="43137"/>
                    </a:srgbClr>
                  </a:outerShdw>
                </a:effectLst>
              </a:rPr>
              <a:t>）、对象图（</a:t>
            </a:r>
            <a:r>
              <a:rPr lang="en-US" altLang="zh-CN" sz="2400" b="1" dirty="0" smtClean="0">
                <a:solidFill>
                  <a:schemeClr val="tx1"/>
                </a:solidFill>
                <a:effectLst>
                  <a:outerShdw blurRad="38100" dist="38100" dir="2700000" algn="tl">
                    <a:srgbClr val="000000">
                      <a:alpha val="43137"/>
                    </a:srgbClr>
                  </a:outerShdw>
                </a:effectLst>
              </a:rPr>
              <a:t>Object</a:t>
            </a:r>
            <a:r>
              <a:rPr lang="zh-CN" altLang="en-US" sz="2400" b="1" dirty="0" smtClean="0">
                <a:solidFill>
                  <a:schemeClr val="tx1"/>
                </a:solidFill>
                <a:effectLst>
                  <a:outerShdw blurRad="38100" dist="38100" dir="2700000" algn="tl">
                    <a:srgbClr val="000000">
                      <a:alpha val="43137"/>
                    </a:srgbClr>
                  </a:outerShdw>
                </a:effectLst>
              </a:rPr>
              <a:t>）、状态图（</a:t>
            </a:r>
            <a:r>
              <a:rPr lang="en-US" altLang="zh-CN" sz="2400" b="1" dirty="0" smtClean="0">
                <a:solidFill>
                  <a:schemeClr val="tx1"/>
                </a:solidFill>
                <a:effectLst>
                  <a:outerShdw blurRad="38100" dist="38100" dir="2700000" algn="tl">
                    <a:srgbClr val="000000">
                      <a:alpha val="43137"/>
                    </a:srgbClr>
                  </a:outerShdw>
                </a:effectLst>
              </a:rPr>
              <a:t>State</a:t>
            </a:r>
            <a:r>
              <a:rPr lang="zh-CN" altLang="en-US" sz="2400" b="1" dirty="0" smtClean="0">
                <a:solidFill>
                  <a:schemeClr val="tx1"/>
                </a:solidFill>
                <a:effectLst>
                  <a:outerShdw blurRad="38100" dist="38100" dir="2700000" algn="tl">
                    <a:srgbClr val="000000">
                      <a:alpha val="43137"/>
                    </a:srgbClr>
                  </a:outerShdw>
                </a:effectLst>
              </a:rPr>
              <a:t>）、时序图（</a:t>
            </a:r>
            <a:r>
              <a:rPr lang="en-US" altLang="zh-CN" sz="2400" b="1" dirty="0" smtClean="0">
                <a:solidFill>
                  <a:schemeClr val="tx1"/>
                </a:solidFill>
                <a:effectLst>
                  <a:outerShdw blurRad="38100" dist="38100" dir="2700000" algn="tl">
                    <a:srgbClr val="000000">
                      <a:alpha val="43137"/>
                    </a:srgbClr>
                  </a:outerShdw>
                </a:effectLst>
              </a:rPr>
              <a:t>Sequence</a:t>
            </a:r>
            <a:r>
              <a:rPr lang="zh-CN" altLang="en-US" sz="2400" b="1" dirty="0" smtClean="0">
                <a:solidFill>
                  <a:schemeClr val="tx1"/>
                </a:solidFill>
                <a:effectLst>
                  <a:outerShdw blurRad="38100" dist="38100" dir="2700000" algn="tl">
                    <a:srgbClr val="000000">
                      <a:alpha val="43137"/>
                    </a:srgbClr>
                  </a:outerShdw>
                </a:effectLst>
              </a:rPr>
              <a:t>）、协作图（</a:t>
            </a:r>
            <a:r>
              <a:rPr lang="en-US" altLang="zh-CN" sz="2400" b="1" dirty="0" smtClean="0">
                <a:solidFill>
                  <a:schemeClr val="tx1"/>
                </a:solidFill>
                <a:effectLst>
                  <a:outerShdw blurRad="38100" dist="38100" dir="2700000" algn="tl">
                    <a:srgbClr val="000000">
                      <a:alpha val="43137"/>
                    </a:srgbClr>
                  </a:outerShdw>
                </a:effectLst>
              </a:rPr>
              <a:t>Collaboration</a:t>
            </a:r>
            <a:r>
              <a:rPr lang="zh-CN" altLang="en-US" sz="2400" b="1" dirty="0" smtClean="0">
                <a:solidFill>
                  <a:schemeClr val="tx1"/>
                </a:solidFill>
                <a:effectLst>
                  <a:outerShdw blurRad="38100" dist="38100" dir="2700000" algn="tl">
                    <a:srgbClr val="000000">
                      <a:alpha val="43137"/>
                    </a:srgbClr>
                  </a:outerShdw>
                </a:effectLst>
              </a:rPr>
              <a:t>）、活动图（</a:t>
            </a:r>
            <a:r>
              <a:rPr lang="en-US" altLang="zh-CN" sz="2400" b="1" dirty="0" smtClean="0">
                <a:solidFill>
                  <a:schemeClr val="tx1"/>
                </a:solidFill>
                <a:effectLst>
                  <a:outerShdw blurRad="38100" dist="38100" dir="2700000" algn="tl">
                    <a:srgbClr val="000000">
                      <a:alpha val="43137"/>
                    </a:srgbClr>
                  </a:outerShdw>
                </a:effectLst>
              </a:rPr>
              <a:t>Activity</a:t>
            </a:r>
            <a:r>
              <a:rPr lang="zh-CN" altLang="en-US" sz="2400" b="1" dirty="0" smtClean="0">
                <a:solidFill>
                  <a:schemeClr val="tx1"/>
                </a:solidFill>
                <a:effectLst>
                  <a:outerShdw blurRad="38100" dist="38100" dir="2700000" algn="tl">
                    <a:srgbClr val="000000">
                      <a:alpha val="43137"/>
                    </a:srgbClr>
                  </a:outerShdw>
                </a:effectLst>
              </a:rPr>
              <a:t>）、构件图（</a:t>
            </a:r>
            <a:r>
              <a:rPr lang="en-US" altLang="zh-CN" sz="2400" b="1" dirty="0" smtClean="0">
                <a:solidFill>
                  <a:schemeClr val="tx1"/>
                </a:solidFill>
                <a:effectLst>
                  <a:outerShdw blurRad="38100" dist="38100" dir="2700000" algn="tl">
                    <a:srgbClr val="000000">
                      <a:alpha val="43137"/>
                    </a:srgbClr>
                  </a:outerShdw>
                </a:effectLst>
              </a:rPr>
              <a:t>Component</a:t>
            </a:r>
            <a:r>
              <a:rPr lang="zh-CN" altLang="en-US" sz="2400" b="1" dirty="0" smtClean="0">
                <a:solidFill>
                  <a:schemeClr val="tx1"/>
                </a:solidFill>
                <a:effectLst>
                  <a:outerShdw blurRad="38100" dist="38100" dir="2700000" algn="tl">
                    <a:srgbClr val="000000">
                      <a:alpha val="43137"/>
                    </a:srgbClr>
                  </a:outerShdw>
                </a:effectLst>
              </a:rPr>
              <a:t>）和部署图（</a:t>
            </a:r>
            <a:r>
              <a:rPr lang="en-US" altLang="zh-CN" sz="2400" b="1" dirty="0" smtClean="0">
                <a:solidFill>
                  <a:schemeClr val="tx1"/>
                </a:solidFill>
                <a:effectLst>
                  <a:outerShdw blurRad="38100" dist="38100" dir="2700000" algn="tl">
                    <a:srgbClr val="000000">
                      <a:alpha val="43137"/>
                    </a:srgbClr>
                  </a:outerShdw>
                </a:effectLst>
              </a:rPr>
              <a:t>Deployment</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UML</a:t>
            </a:r>
            <a:r>
              <a:rPr lang="zh-CN" altLang="en-US" sz="2400" b="1" dirty="0" smtClean="0">
                <a:solidFill>
                  <a:schemeClr val="tx1"/>
                </a:solidFill>
                <a:effectLst>
                  <a:outerShdw blurRad="38100" dist="38100" dir="2700000" algn="tl">
                    <a:srgbClr val="000000">
                      <a:alpha val="43137"/>
                    </a:srgbClr>
                  </a:outerShdw>
                </a:effectLst>
              </a:rPr>
              <a:t>可以从五种视图来观察系统，即：用例视图、逻辑视图、构件视图、并发视图和部署视图。</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6076315"/>
      </p:ext>
    </p:extLst>
  </p:cSld>
  <p:clrMapOvr>
    <a:masterClrMapping/>
  </p:clrMapOvr>
  <p:transition spd="slow">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欣赏 学习 交流</a:t>
            </a:r>
            <a:endParaRPr lang="zh-CN" sz="40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文本占位符 2"/>
          <p:cNvSpPr>
            <a:spLocks noGrp="1"/>
          </p:cNvSpPr>
          <p:nvPr>
            <p:ph type="body" idx="1"/>
          </p:nvPr>
        </p:nvSpPr>
        <p:spPr>
          <a:xfrm>
            <a:off x="6092662" y="2305318"/>
            <a:ext cx="5859506" cy="2284145"/>
          </a:xfrm>
        </p:spPr>
        <p:txBody>
          <a:bodyPr>
            <a:noAutofit/>
          </a:bodyPr>
          <a:lstStyle/>
          <a:p>
            <a:r>
              <a:rPr lang="zh-CN" altLang="en-US" sz="2400" b="1" dirty="0" smtClean="0">
                <a:effectLst>
                  <a:outerShdw blurRad="38100" dist="38100" dir="2700000" algn="tl">
                    <a:srgbClr val="000000">
                      <a:alpha val="43137"/>
                    </a:srgbClr>
                  </a:outerShdw>
                </a:effectLst>
                <a:latin typeface="Microsoft YaHei UI" panose="020B0503020204020204" pitchFamily="34" charset="-122"/>
              </a:rPr>
              <a:t>大学</a:t>
            </a:r>
            <a:r>
              <a:rPr lang="zh-CN" altLang="en-US" sz="2400" b="1" dirty="0">
                <a:effectLst>
                  <a:outerShdw blurRad="38100" dist="38100" dir="2700000" algn="tl">
                    <a:srgbClr val="000000">
                      <a:alpha val="43137"/>
                    </a:srgbClr>
                  </a:outerShdw>
                </a:effectLst>
                <a:latin typeface="Microsoft YaHei UI" panose="020B0503020204020204" pitchFamily="34" charset="-122"/>
              </a:rPr>
              <a:t>课程的学习，一方面是老师</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尽心教</a:t>
            </a:r>
            <a:r>
              <a:rPr lang="zh-CN" altLang="en-US" sz="2400" b="1" dirty="0">
                <a:effectLst>
                  <a:outerShdw blurRad="38100" dist="38100" dir="2700000" algn="tl">
                    <a:srgbClr val="000000">
                      <a:alpha val="43137"/>
                    </a:srgbClr>
                  </a:outerShdw>
                </a:effectLst>
                <a:latin typeface="Microsoft YaHei UI" panose="020B0503020204020204" pitchFamily="34" charset="-122"/>
              </a:rPr>
              <a:t>，一方面是</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学生主动学</a:t>
            </a:r>
            <a:r>
              <a:rPr lang="zh-CN" altLang="en-US" sz="2400" b="1" dirty="0">
                <a:effectLst>
                  <a:outerShdw blurRad="38100" dist="38100" dir="2700000" algn="tl">
                    <a:srgbClr val="000000">
                      <a:alpha val="43137"/>
                    </a:srgbClr>
                  </a:outerShdw>
                </a:effectLst>
                <a:latin typeface="Microsoft YaHei UI" panose="020B0503020204020204" pitchFamily="34" charset="-122"/>
              </a:rPr>
              <a:t>；一方面是</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课上讲授</a:t>
            </a:r>
            <a:r>
              <a:rPr lang="zh-CN" altLang="en-US" sz="2400" b="1" dirty="0">
                <a:effectLst>
                  <a:outerShdw blurRad="38100" dist="38100" dir="2700000" algn="tl">
                    <a:srgbClr val="000000">
                      <a:alpha val="43137"/>
                    </a:srgbClr>
                  </a:outerShdw>
                </a:effectLst>
                <a:latin typeface="Microsoft YaHei UI" panose="020B0503020204020204" pitchFamily="34" charset="-122"/>
              </a:rPr>
              <a:t>引导，一方面</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是课余自主探索，哪个</a:t>
            </a:r>
            <a:r>
              <a:rPr lang="zh-CN" altLang="en-US" sz="2400" b="1" dirty="0">
                <a:effectLst>
                  <a:outerShdw blurRad="38100" dist="38100" dir="2700000" algn="tl">
                    <a:srgbClr val="000000">
                      <a:alpha val="43137"/>
                    </a:srgbClr>
                  </a:outerShdw>
                </a:effectLst>
                <a:latin typeface="Microsoft YaHei UI" panose="020B0503020204020204" pitchFamily="34" charset="-122"/>
              </a:rPr>
              <a:t>方面都很重要。我们有幸生活在网络时代，依托因特网环境，培养自主学习能力，是时代的恩惠，也是时代的象征</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8" name="任意多边形 7"/>
          <p:cNvSpPr/>
          <p:nvPr/>
        </p:nvSpPr>
        <p:spPr>
          <a:xfrm>
            <a:off x="11557038" y="6134153"/>
            <a:ext cx="431763" cy="431763"/>
          </a:xfrm>
          <a:custGeom>
            <a:avLst/>
            <a:gdLst>
              <a:gd name="connsiteX0" fmla="*/ 283692 w 643468"/>
              <a:gd name="connsiteY0" fmla="*/ 156886 h 643468"/>
              <a:gd name="connsiteX1" fmla="*/ 315574 w 643468"/>
              <a:gd name="connsiteY1" fmla="*/ 156886 h 643468"/>
              <a:gd name="connsiteX2" fmla="*/ 486582 w 643468"/>
              <a:gd name="connsiteY2" fmla="*/ 321734 h 643468"/>
              <a:gd name="connsiteX3" fmla="*/ 315574 w 643468"/>
              <a:gd name="connsiteY3" fmla="*/ 486582 h 643468"/>
              <a:gd name="connsiteX4" fmla="*/ 283692 w 643468"/>
              <a:gd name="connsiteY4" fmla="*/ 486582 h 643468"/>
              <a:gd name="connsiteX5" fmla="*/ 441545 w 643468"/>
              <a:gd name="connsiteY5" fmla="*/ 334415 h 643468"/>
              <a:gd name="connsiteX6" fmla="*/ 156887 w 643468"/>
              <a:gd name="connsiteY6" fmla="*/ 334415 h 643468"/>
              <a:gd name="connsiteX7" fmla="*/ 156887 w 643468"/>
              <a:gd name="connsiteY7" fmla="*/ 309054 h 643468"/>
              <a:gd name="connsiteX8" fmla="*/ 441545 w 643468"/>
              <a:gd name="connsiteY8" fmla="*/ 309054 h 643468"/>
              <a:gd name="connsiteX9" fmla="*/ 321733 w 643468"/>
              <a:gd name="connsiteY9" fmla="*/ 16937 h 643468"/>
              <a:gd name="connsiteX10" fmla="*/ 16936 w 643468"/>
              <a:gd name="connsiteY10" fmla="*/ 321734 h 643468"/>
              <a:gd name="connsiteX11" fmla="*/ 321733 w 643468"/>
              <a:gd name="connsiteY11" fmla="*/ 626531 h 643468"/>
              <a:gd name="connsiteX12" fmla="*/ 626530 w 643468"/>
              <a:gd name="connsiteY12" fmla="*/ 321734 h 643468"/>
              <a:gd name="connsiteX13" fmla="*/ 321733 w 643468"/>
              <a:gd name="connsiteY13" fmla="*/ 16937 h 643468"/>
              <a:gd name="connsiteX14" fmla="*/ 321734 w 643468"/>
              <a:gd name="connsiteY14" fmla="*/ 0 h 643468"/>
              <a:gd name="connsiteX15" fmla="*/ 643468 w 643468"/>
              <a:gd name="connsiteY15" fmla="*/ 321734 h 643468"/>
              <a:gd name="connsiteX16" fmla="*/ 321734 w 643468"/>
              <a:gd name="connsiteY16" fmla="*/ 643468 h 643468"/>
              <a:gd name="connsiteX17" fmla="*/ 0 w 643468"/>
              <a:gd name="connsiteY17" fmla="*/ 321734 h 643468"/>
              <a:gd name="connsiteX18" fmla="*/ 321734 w 643468"/>
              <a:gd name="connsiteY18" fmla="*/ 0 h 64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3468" h="643468">
                <a:moveTo>
                  <a:pt x="283692" y="156886"/>
                </a:moveTo>
                <a:lnTo>
                  <a:pt x="315574" y="156886"/>
                </a:lnTo>
                <a:lnTo>
                  <a:pt x="486582" y="321734"/>
                </a:lnTo>
                <a:lnTo>
                  <a:pt x="315574" y="486582"/>
                </a:lnTo>
                <a:lnTo>
                  <a:pt x="283692" y="486582"/>
                </a:lnTo>
                <a:lnTo>
                  <a:pt x="441545" y="334415"/>
                </a:lnTo>
                <a:lnTo>
                  <a:pt x="156887" y="334415"/>
                </a:lnTo>
                <a:lnTo>
                  <a:pt x="156887" y="309054"/>
                </a:lnTo>
                <a:lnTo>
                  <a:pt x="441545" y="309054"/>
                </a:lnTo>
                <a:close/>
                <a:moveTo>
                  <a:pt x="321733" y="16937"/>
                </a:moveTo>
                <a:cubicBezTo>
                  <a:pt x="153398" y="16937"/>
                  <a:pt x="16936" y="153399"/>
                  <a:pt x="16936" y="321734"/>
                </a:cubicBezTo>
                <a:cubicBezTo>
                  <a:pt x="16936" y="490069"/>
                  <a:pt x="153398" y="626531"/>
                  <a:pt x="321733" y="626531"/>
                </a:cubicBezTo>
                <a:cubicBezTo>
                  <a:pt x="490068" y="626531"/>
                  <a:pt x="626530" y="490069"/>
                  <a:pt x="626530" y="321734"/>
                </a:cubicBezTo>
                <a:cubicBezTo>
                  <a:pt x="626530" y="153399"/>
                  <a:pt x="490068" y="16937"/>
                  <a:pt x="321733" y="16937"/>
                </a:cubicBezTo>
                <a:close/>
                <a:moveTo>
                  <a:pt x="321734" y="0"/>
                </a:moveTo>
                <a:cubicBezTo>
                  <a:pt x="499423" y="0"/>
                  <a:pt x="643468" y="144045"/>
                  <a:pt x="643468" y="321734"/>
                </a:cubicBezTo>
                <a:cubicBezTo>
                  <a:pt x="643468" y="499423"/>
                  <a:pt x="499423" y="643468"/>
                  <a:pt x="321734" y="643468"/>
                </a:cubicBezTo>
                <a:cubicBezTo>
                  <a:pt x="144045" y="643468"/>
                  <a:pt x="0" y="499423"/>
                  <a:pt x="0" y="321734"/>
                </a:cubicBezTo>
                <a:cubicBezTo>
                  <a:pt x="0" y="144045"/>
                  <a:pt x="144045" y="0"/>
                  <a:pt x="321734" y="0"/>
                </a:cubicBezTo>
                <a:close/>
              </a:path>
            </a:pathLst>
          </a:custGeom>
          <a:solidFill>
            <a:srgbClr val="DD4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solidFill>
                <a:schemeClr val="tx1"/>
              </a:solidFill>
            </a:endParaRPr>
          </a:p>
        </p:txBody>
      </p:sp>
      <p:sp>
        <p:nvSpPr>
          <p:cNvPr id="9" name="文本占位符 2">
            <a:hlinkClick r:id="rId3" tooltip="了解详细信息"/>
          </p:cNvPr>
          <p:cNvSpPr txBox="1">
            <a:spLocks/>
          </p:cNvSpPr>
          <p:nvPr/>
        </p:nvSpPr>
        <p:spPr>
          <a:xfrm>
            <a:off x="2897188" y="5844663"/>
            <a:ext cx="8659850" cy="931371"/>
          </a:xfrm>
          <a:prstGeom prst="rect">
            <a:avLst/>
          </a:prstGeom>
        </p:spPr>
        <p:txBody>
          <a:bodyPr vert="horz" lIns="91440" tIns="45720" rIns="91440" bIns="45720" rtlCol="0" anchor="ctr">
            <a:normAutofit/>
          </a:bodyPr>
          <a:lstStyle>
            <a:lvl1pPr marL="0" indent="0" algn="l" defTabSz="914400" rtl="0" eaLnBrk="1" latinLnBrk="0" hangingPunct="1">
              <a:lnSpc>
                <a:spcPct val="150000"/>
              </a:lnSpc>
              <a:spcBef>
                <a:spcPct val="30000"/>
              </a:spcBef>
              <a:buFont typeface="Arial" panose="020B0604020202020204" pitchFamily="34" charset="0"/>
              <a:buNone/>
              <a:defRPr lang="zh-CN" sz="2800" kern="1200">
                <a:solidFill>
                  <a:schemeClr val="bg1"/>
                </a:solidFill>
                <a:latin typeface="+mj-lt"/>
                <a:ea typeface="+mn-ea"/>
                <a:cs typeface="+mn-cs"/>
              </a:defRPr>
            </a:lvl1pPr>
            <a:lvl2pPr marL="457200" indent="0" algn="l" defTabSz="914400" rtl="0" eaLnBrk="1" latinLnBrk="0" hangingPunct="1">
              <a:lnSpc>
                <a:spcPct val="90000"/>
              </a:lnSpc>
              <a:spcBef>
                <a:spcPct val="30000"/>
              </a:spcBef>
              <a:buFont typeface="Arial" panose="020B0604020202020204" pitchFamily="34" charset="0"/>
              <a:buNone/>
              <a:defRPr lang="zh-CN" sz="2000" kern="1200">
                <a:solidFill>
                  <a:schemeClr val="tx1"/>
                </a:solidFill>
                <a:latin typeface="+mn-lt"/>
                <a:ea typeface="+mn-ea"/>
                <a:cs typeface="+mn-cs"/>
              </a:defRPr>
            </a:lvl2pPr>
            <a:lvl3pPr marL="914400" indent="0" algn="l" defTabSz="914400" rtl="0" eaLnBrk="1" latinLnBrk="0" hangingPunct="1">
              <a:lnSpc>
                <a:spcPct val="90000"/>
              </a:lnSpc>
              <a:spcBef>
                <a:spcPct val="30000"/>
              </a:spcBef>
              <a:buFont typeface="Arial" panose="020B0604020202020204" pitchFamily="34" charset="0"/>
              <a:buNone/>
              <a:defRPr lang="zh-CN" sz="1800" kern="1200">
                <a:solidFill>
                  <a:schemeClr val="tx1"/>
                </a:solidFill>
                <a:latin typeface="+mn-lt"/>
                <a:ea typeface="+mn-ea"/>
                <a:cs typeface="+mn-cs"/>
              </a:defRPr>
            </a:lvl3pPr>
            <a:lvl4pPr marL="13716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4pPr>
            <a:lvl5pPr marL="18288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5pPr>
            <a:lvl6pPr marL="22860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6pPr>
            <a:lvl7pPr marL="27432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7pPr>
            <a:lvl8pPr marL="32004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8pPr>
            <a:lvl9pPr marL="36576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9pPr>
          </a:lstStyle>
          <a:p>
            <a:pPr algn="r"/>
            <a:r>
              <a:rPr lang="zh-CN" altLang="en-US" sz="1800" dirty="0" smtClean="0">
                <a:solidFill>
                  <a:srgbClr val="DD462F"/>
                </a:solidFill>
                <a:latin typeface="Microsoft YaHei UI" panose="020B0503020204020204" pitchFamily="34" charset="-122"/>
                <a:ea typeface="Microsoft YaHei UI" panose="020B0503020204020204" pitchFamily="34" charset="-122"/>
              </a:rPr>
              <a:t>自主学习</a:t>
            </a:r>
            <a:r>
              <a:rPr lang="zh-CN" sz="1800" dirty="0" smtClean="0">
                <a:solidFill>
                  <a:srgbClr val="DD462F"/>
                </a:solidFill>
                <a:latin typeface="Microsoft YaHei UI" panose="020B0503020204020204" pitchFamily="34" charset="-122"/>
                <a:ea typeface="Microsoft YaHei UI" panose="020B0503020204020204" pitchFamily="34" charset="-122"/>
              </a:rPr>
              <a:t>更多</a:t>
            </a:r>
            <a:r>
              <a:rPr lang="zh-CN" altLang="en-US" sz="1800" dirty="0" smtClean="0">
                <a:solidFill>
                  <a:srgbClr val="DD462F"/>
                </a:solidFill>
                <a:latin typeface="Microsoft YaHei UI" panose="020B0503020204020204" pitchFamily="34" charset="-122"/>
                <a:ea typeface="Microsoft YaHei UI" panose="020B0503020204020204" pitchFamily="34" charset="-122"/>
              </a:rPr>
              <a:t>知识</a:t>
            </a:r>
            <a:endParaRPr lang="zh-CN" sz="1800" dirty="0">
              <a:solidFill>
                <a:srgbClr val="DD462F"/>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17502127"/>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Doc" id="{E1E7EDF9-8B79-4E5D-B508-2301E35CD219}" vid="{4342E303-0389-44F2-B6F0-C13C203CC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8DBC0A1-66E1-4B9D-88C2-9B3A32A214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欢迎使用 PowerPoint</Template>
  <TotalTime>0</TotalTime>
  <Words>5651</Words>
  <Application>Microsoft Macintosh PowerPoint</Application>
  <PresentationFormat>宽屏</PresentationFormat>
  <Paragraphs>146</Paragraphs>
  <Slides>48</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58" baseType="lpstr">
      <vt:lpstr>Calibri</vt:lpstr>
      <vt:lpstr>Microsoft YaHei UI</vt:lpstr>
      <vt:lpstr>Segoe UI</vt:lpstr>
      <vt:lpstr>Segoe UI Light</vt:lpstr>
      <vt:lpstr>华文新魏</vt:lpstr>
      <vt:lpstr>楷体</vt:lpstr>
      <vt:lpstr>宋体</vt:lpstr>
      <vt:lpstr>Arial</vt:lpstr>
      <vt:lpstr>WelcomeDoc</vt:lpstr>
      <vt:lpstr>Visio</vt:lpstr>
      <vt:lpstr>新编 计算机导论（第二版）   机械工业出版社 2015-3</vt:lpstr>
      <vt:lpstr>第13章  软件工程与开发方法</vt:lpstr>
      <vt:lpstr>13.1  软件生存周期及其模型</vt:lpstr>
      <vt:lpstr>13.1.1  软件生存周期</vt:lpstr>
      <vt:lpstr>13.1.1  软件生存周期</vt:lpstr>
      <vt:lpstr>13.1.2  软件生存周期过程</vt:lpstr>
      <vt:lpstr>13.1.2  软件生存周期过程</vt:lpstr>
      <vt:lpstr>13.1.3  软件生存周期模型</vt:lpstr>
      <vt:lpstr>13.1.3  软件生存周期模型</vt:lpstr>
      <vt:lpstr>13.1.3  软件生存周期模型</vt:lpstr>
      <vt:lpstr>13.2  软件工程定义</vt:lpstr>
      <vt:lpstr>13.2  软件工程定义</vt:lpstr>
      <vt:lpstr>13.3  软件开发过程</vt:lpstr>
      <vt:lpstr>13.3.1  分析阶段</vt:lpstr>
      <vt:lpstr>13.3.1  分析阶段</vt:lpstr>
      <vt:lpstr>13.3.2  设计阶段</vt:lpstr>
      <vt:lpstr>13.3.3  实现阶段</vt:lpstr>
      <vt:lpstr>13.3.4  测试阶段</vt:lpstr>
      <vt:lpstr>13.3.4  测试阶段</vt:lpstr>
      <vt:lpstr>13.3.4  测试阶段</vt:lpstr>
      <vt:lpstr>13.4  模块化</vt:lpstr>
      <vt:lpstr>13.4.1  耦合</vt:lpstr>
      <vt:lpstr>13.4.1  耦合</vt:lpstr>
      <vt:lpstr>13.4.2  内聚</vt:lpstr>
      <vt:lpstr>13.4.2  内聚</vt:lpstr>
      <vt:lpstr>13.4.2  内聚</vt:lpstr>
      <vt:lpstr>13.4.2  内聚</vt:lpstr>
      <vt:lpstr>13.5  软件质量</vt:lpstr>
      <vt:lpstr>13.5  软件质量</vt:lpstr>
      <vt:lpstr>13.5  软件质量</vt:lpstr>
      <vt:lpstr>13.5  软件质量</vt:lpstr>
      <vt:lpstr>13.5  软件质量</vt:lpstr>
      <vt:lpstr>13.6  软件测试</vt:lpstr>
      <vt:lpstr>13.6.1  测试应用程序</vt:lpstr>
      <vt:lpstr>13.6.1  测试应用程序</vt:lpstr>
      <vt:lpstr>13.6.1  测试应用程序</vt:lpstr>
      <vt:lpstr>13.6.1  测试应用程序</vt:lpstr>
      <vt:lpstr>13.6.2  软件测试自动化</vt:lpstr>
      <vt:lpstr>13.6.2  软件测试自动化</vt:lpstr>
      <vt:lpstr>13.7  软件文档</vt:lpstr>
      <vt:lpstr>13.7.1  用户文档</vt:lpstr>
      <vt:lpstr>13.7.2  系统文档</vt:lpstr>
      <vt:lpstr>13.7.2  系统文档</vt:lpstr>
      <vt:lpstr>13.8  面向对象方法和UML</vt:lpstr>
      <vt:lpstr>13.8  面向对象方法和UML</vt:lpstr>
      <vt:lpstr>13.8  面向对象方法和UML</vt:lpstr>
      <vt:lpstr>13.8  面向对象方法和UML</vt:lpstr>
      <vt:lpstr>欣赏 学习 交流</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2014-08-19T11:50:12Z</dcterms:created>
  <dcterms:modified xsi:type="dcterms:W3CDTF">2017-11-04T07:23:55Z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